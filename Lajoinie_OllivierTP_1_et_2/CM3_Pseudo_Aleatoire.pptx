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312" r:id="rId3"/>
    <p:sldId id="333" r:id="rId4"/>
    <p:sldId id="332" r:id="rId5"/>
    <p:sldId id="334" r:id="rId6"/>
    <p:sldId id="336" r:id="rId7"/>
    <p:sldId id="302" r:id="rId8"/>
    <p:sldId id="337" r:id="rId9"/>
    <p:sldId id="338" r:id="rId10"/>
    <p:sldId id="340" r:id="rId11"/>
    <p:sldId id="343" r:id="rId12"/>
    <p:sldId id="342" r:id="rId13"/>
    <p:sldId id="344" r:id="rId14"/>
    <p:sldId id="345" r:id="rId15"/>
    <p:sldId id="349" r:id="rId16"/>
    <p:sldId id="347" r:id="rId17"/>
    <p:sldId id="350" r:id="rId18"/>
    <p:sldId id="348" r:id="rId19"/>
    <p:sldId id="351" r:id="rId20"/>
    <p:sldId id="352" r:id="rId21"/>
    <p:sldId id="353" r:id="rId22"/>
    <p:sldId id="354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363" r:id="rId31"/>
    <p:sldId id="364" r:id="rId32"/>
    <p:sldId id="275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6528"/>
    <a:srgbClr val="660066"/>
    <a:srgbClr val="FFE697"/>
    <a:srgbClr val="FF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67" autoAdjust="0"/>
    <p:restoredTop sz="94660"/>
  </p:normalViewPr>
  <p:slideViewPr>
    <p:cSldViewPr snapToGrid="0">
      <p:cViewPr>
        <p:scale>
          <a:sx n="67" d="100"/>
          <a:sy n="67" d="100"/>
        </p:scale>
        <p:origin x="-59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B34A467-2F70-4E9F-9AEF-4E8F30EC00C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60C7-00D6-48C2-BC48-FCDDB37C2963}" type="slidenum">
              <a:rPr lang="fr-FR" smtClean="0"/>
              <a:t>‹#›</a:t>
            </a:fld>
            <a:endParaRPr lang="fr-F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795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4A467-2F70-4E9F-9AEF-4E8F30EC00C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60C7-00D6-48C2-BC48-FCDDB37C296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9703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4A467-2F70-4E9F-9AEF-4E8F30EC00C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60C7-00D6-48C2-BC48-FCDDB37C2963}" type="slidenum">
              <a:rPr lang="fr-FR" smtClean="0"/>
              <a:t>‹#›</a:t>
            </a:fld>
            <a:endParaRPr lang="fr-F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49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4A467-2F70-4E9F-9AEF-4E8F30EC00C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60C7-00D6-48C2-BC48-FCDDB37C296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1179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4A467-2F70-4E9F-9AEF-4E8F30EC00C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60C7-00D6-48C2-BC48-FCDDB37C296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7875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4A467-2F70-4E9F-9AEF-4E8F30EC00C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60C7-00D6-48C2-BC48-FCDDB37C296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7737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4A467-2F70-4E9F-9AEF-4E8F30EC00C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60C7-00D6-48C2-BC48-FCDDB37C296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5880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4A467-2F70-4E9F-9AEF-4E8F30EC00C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60C7-00D6-48C2-BC48-FCDDB37C296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831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4A467-2F70-4E9F-9AEF-4E8F30EC00C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60C7-00D6-48C2-BC48-FCDDB37C2963}" type="slidenum">
              <a:rPr lang="fr-FR" smtClean="0"/>
              <a:t>‹#›</a:t>
            </a:fld>
            <a:endParaRPr lang="fr-F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888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4A467-2F70-4E9F-9AEF-4E8F30EC00C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60C7-00D6-48C2-BC48-FCDDB37C296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8759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4A467-2F70-4E9F-9AEF-4E8F30EC00C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60C7-00D6-48C2-BC48-FCDDB37C2963}" type="slidenum">
              <a:rPr lang="fr-FR" smtClean="0"/>
              <a:t>‹#›</a:t>
            </a:fld>
            <a:endParaRPr lang="fr-FR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004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B34A467-2F70-4E9F-9AEF-4E8F30EC00C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EA260C7-00D6-48C2-BC48-FCDDB37C2963}" type="slidenum">
              <a:rPr lang="fr-FR" smtClean="0"/>
              <a:t>‹#›</a:t>
            </a:fld>
            <a:endParaRPr lang="fr-FR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029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A37FB1A-A523-42A7-A17E-91AE0447B8D7}"/>
              </a:ext>
            </a:extLst>
          </p:cNvPr>
          <p:cNvSpPr/>
          <p:nvPr/>
        </p:nvSpPr>
        <p:spPr>
          <a:xfrm>
            <a:off x="2709333" y="855856"/>
            <a:ext cx="6668673" cy="2194560"/>
          </a:xfrm>
          <a:prstGeom prst="rect">
            <a:avLst/>
          </a:prstGeom>
          <a:pattFill prst="plai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1DAFD5-5229-4AE4-B97E-C25E2FE20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Les </a:t>
            </a:r>
            <a:r>
              <a:rPr lang="en-US" dirty="0" err="1"/>
              <a:t>générateurs</a:t>
            </a:r>
            <a:r>
              <a:rPr lang="en-US" dirty="0"/>
              <a:t> pseudo-</a:t>
            </a:r>
            <a:r>
              <a:rPr lang="en-US" dirty="0" err="1"/>
              <a:t>aléatoires</a:t>
            </a:r>
            <a:r>
              <a:rPr lang="en-US" dirty="0"/>
              <a:t> et </a:t>
            </a:r>
            <a:r>
              <a:rPr lang="en-US" dirty="0" err="1"/>
              <a:t>leurs</a:t>
            </a:r>
            <a:r>
              <a:rPr lang="en-US" dirty="0"/>
              <a:t> </a:t>
            </a:r>
            <a:r>
              <a:rPr lang="en-US" dirty="0" err="1"/>
              <a:t>biais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3FBB36-5DFD-4647-B216-10020563BA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Cristina Onete</a:t>
            </a:r>
          </a:p>
          <a:p>
            <a:r>
              <a:rPr lang="en-US" dirty="0"/>
              <a:t>cristina.onete@gmail.com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57E940-EE56-48E9-96FF-F2EA3BF004F9}"/>
              </a:ext>
            </a:extLst>
          </p:cNvPr>
          <p:cNvSpPr txBox="1"/>
          <p:nvPr/>
        </p:nvSpPr>
        <p:spPr>
          <a:xfrm>
            <a:off x="2813994" y="1347731"/>
            <a:ext cx="6431606" cy="1323439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latin typeface="AR CHRISTY" panose="02000000000000000000" pitchFamily="2" charset="0"/>
              </a:rPr>
              <a:t>Modélisations de la</a:t>
            </a:r>
          </a:p>
          <a:p>
            <a:pPr algn="ctr"/>
            <a:r>
              <a:rPr lang="fr-FR" sz="4000" dirty="0">
                <a:latin typeface="AR CHRISTY" panose="02000000000000000000" pitchFamily="2" charset="0"/>
              </a:rPr>
              <a:t>sécurité en cryptographie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B6570C0-C328-4009-B022-1223721F6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3264" y="2154679"/>
            <a:ext cx="1847736" cy="2276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48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56E7627-9054-4C34-A9FF-A07F95284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7D12E-3618-3CDD-1528-0E1946400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728" y="585216"/>
            <a:ext cx="5740739" cy="1499616"/>
          </a:xfrm>
        </p:spPr>
        <p:txBody>
          <a:bodyPr>
            <a:normAutofit/>
          </a:bodyPr>
          <a:lstStyle/>
          <a:p>
            <a:r>
              <a:rPr lang="en-US" dirty="0" err="1"/>
              <a:t>L’authentification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défi-réponse</a:t>
            </a:r>
            <a:endParaRPr lang="en-GB" dirty="0"/>
          </a:p>
        </p:txBody>
      </p:sp>
      <p:pic>
        <p:nvPicPr>
          <p:cNvPr id="18" name="Graphic 17" descr="Male profile with solid fill">
            <a:extLst>
              <a:ext uri="{FF2B5EF4-FFF2-40B4-BE49-F238E27FC236}">
                <a16:creationId xmlns:a16="http://schemas.microsoft.com/office/drawing/2014/main" id="{E3C38196-83BD-8716-7A9A-880E61D7B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49" y="484632"/>
            <a:ext cx="3511948" cy="3511948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AFFBAEC-4B09-4263-AA73-ECE450FC7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75766" y="484632"/>
            <a:ext cx="804672" cy="3511948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570AA90-7628-435C-9F08-19F2E026D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045B6E3-569F-487B-8966-D3A87C7B4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7150" y="4150596"/>
            <a:ext cx="477182" cy="223180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Office worker female with solid fill">
            <a:extLst>
              <a:ext uri="{FF2B5EF4-FFF2-40B4-BE49-F238E27FC236}">
                <a16:creationId xmlns:a16="http://schemas.microsoft.com/office/drawing/2014/main" id="{3C9261C2-D461-BE4A-7311-DCE28740C8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88924" y="4150596"/>
            <a:ext cx="2231808" cy="2231808"/>
          </a:xfrm>
          <a:prstGeom prst="rect">
            <a:avLst/>
          </a:prstGeom>
        </p:spPr>
      </p:pic>
      <p:pic>
        <p:nvPicPr>
          <p:cNvPr id="21" name="Graphic 20" descr="Male profile with solid fill">
            <a:extLst>
              <a:ext uri="{FF2B5EF4-FFF2-40B4-BE49-F238E27FC236}">
                <a16:creationId xmlns:a16="http://schemas.microsoft.com/office/drawing/2014/main" id="{11A31C73-E3EB-33AD-EEF0-4D1B0E1662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3089" y="2682635"/>
            <a:ext cx="989804" cy="989804"/>
          </a:xfrm>
          <a:prstGeom prst="rect">
            <a:avLst/>
          </a:prstGeom>
        </p:spPr>
      </p:pic>
      <p:pic>
        <p:nvPicPr>
          <p:cNvPr id="22" name="Graphic 21" descr="Office worker female with solid fill">
            <a:extLst>
              <a:ext uri="{FF2B5EF4-FFF2-40B4-BE49-F238E27FC236}">
                <a16:creationId xmlns:a16="http://schemas.microsoft.com/office/drawing/2014/main" id="{C9880CA3-D6FC-93A1-DEED-8D84753807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68357" y="2682635"/>
            <a:ext cx="989804" cy="98980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0E79B70-AAD1-DD9C-7B58-DF7588DE0114}"/>
              </a:ext>
            </a:extLst>
          </p:cNvPr>
          <p:cNvSpPr txBox="1"/>
          <p:nvPr/>
        </p:nvSpPr>
        <p:spPr>
          <a:xfrm>
            <a:off x="5609656" y="2338527"/>
            <a:ext cx="12618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Prouveur</a:t>
            </a:r>
            <a:endParaRPr lang="en-GB" sz="2200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CA3196-4337-A1DF-AABF-E038D92244A8}"/>
              </a:ext>
            </a:extLst>
          </p:cNvPr>
          <p:cNvSpPr txBox="1"/>
          <p:nvPr/>
        </p:nvSpPr>
        <p:spPr>
          <a:xfrm>
            <a:off x="9536001" y="2338526"/>
            <a:ext cx="16545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Vérificateur</a:t>
            </a:r>
            <a:endParaRPr lang="en-GB" sz="2200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698512C-DD06-BA02-5A5E-085A0546565B}"/>
              </a:ext>
            </a:extLst>
          </p:cNvPr>
          <p:cNvCxnSpPr/>
          <p:nvPr/>
        </p:nvCxnSpPr>
        <p:spPr>
          <a:xfrm flipH="1">
            <a:off x="6786325" y="3153171"/>
            <a:ext cx="3012558" cy="0"/>
          </a:xfrm>
          <a:prstGeom prst="straightConnector1">
            <a:avLst/>
          </a:prstGeom>
          <a:ln w="22225">
            <a:solidFill>
              <a:srgbClr val="FC652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CFEC4E1-758B-6A77-E10C-C78ADB2143AF}"/>
              </a:ext>
            </a:extLst>
          </p:cNvPr>
          <p:cNvCxnSpPr/>
          <p:nvPr/>
        </p:nvCxnSpPr>
        <p:spPr>
          <a:xfrm flipH="1">
            <a:off x="6786325" y="3570615"/>
            <a:ext cx="3012558" cy="0"/>
          </a:xfrm>
          <a:prstGeom prst="straightConnector1">
            <a:avLst/>
          </a:prstGeom>
          <a:ln w="22225">
            <a:solidFill>
              <a:srgbClr val="FC6528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D19F97B-F793-10E7-3751-34AB792EE755}"/>
              </a:ext>
            </a:extLst>
          </p:cNvPr>
          <p:cNvSpPr txBox="1"/>
          <p:nvPr/>
        </p:nvSpPr>
        <p:spPr>
          <a:xfrm>
            <a:off x="7724660" y="2735728"/>
            <a:ext cx="1136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C65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“Marco”</a:t>
            </a:r>
            <a:endParaRPr lang="en-GB" sz="2000" dirty="0">
              <a:solidFill>
                <a:srgbClr val="FC652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044254-EC70-C9B1-8114-4BD44D308BC1}"/>
              </a:ext>
            </a:extLst>
          </p:cNvPr>
          <p:cNvSpPr txBox="1"/>
          <p:nvPr/>
        </p:nvSpPr>
        <p:spPr>
          <a:xfrm>
            <a:off x="7855282" y="3180312"/>
            <a:ext cx="874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“Polo”</a:t>
            </a:r>
            <a:endParaRPr lang="en-GB" sz="20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4" name="Graphic 33" descr="Male profile with solid fill">
            <a:extLst>
              <a:ext uri="{FF2B5EF4-FFF2-40B4-BE49-F238E27FC236}">
                <a16:creationId xmlns:a16="http://schemas.microsoft.com/office/drawing/2014/main" id="{C99D0855-8CE2-37D8-DF6D-B78DF2596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3089" y="3770458"/>
            <a:ext cx="989804" cy="989804"/>
          </a:xfrm>
          <a:prstGeom prst="rect">
            <a:avLst/>
          </a:prstGeom>
        </p:spPr>
      </p:pic>
      <p:pic>
        <p:nvPicPr>
          <p:cNvPr id="35" name="Graphic 34" descr="Office worker female with solid fill">
            <a:extLst>
              <a:ext uri="{FF2B5EF4-FFF2-40B4-BE49-F238E27FC236}">
                <a16:creationId xmlns:a16="http://schemas.microsoft.com/office/drawing/2014/main" id="{DA5C27F3-64F4-2EEF-4824-8905A12ADF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02624" y="3672439"/>
            <a:ext cx="989804" cy="989804"/>
          </a:xfrm>
          <a:prstGeom prst="rect">
            <a:avLst/>
          </a:prstGeom>
        </p:spPr>
      </p:pic>
      <p:pic>
        <p:nvPicPr>
          <p:cNvPr id="36" name="Graphic 35" descr="Male profile with solid fill">
            <a:extLst>
              <a:ext uri="{FF2B5EF4-FFF2-40B4-BE49-F238E27FC236}">
                <a16:creationId xmlns:a16="http://schemas.microsoft.com/office/drawing/2014/main" id="{4B8D8457-4278-7728-2206-5429D7419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5897" y="2739011"/>
            <a:ext cx="462833" cy="462833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6876B45-9A23-3906-351B-1081FF43B2CC}"/>
              </a:ext>
            </a:extLst>
          </p:cNvPr>
          <p:cNvCxnSpPr/>
          <p:nvPr/>
        </p:nvCxnSpPr>
        <p:spPr>
          <a:xfrm flipH="1">
            <a:off x="6786325" y="4249722"/>
            <a:ext cx="3012558" cy="0"/>
          </a:xfrm>
          <a:prstGeom prst="straightConnector1">
            <a:avLst/>
          </a:prstGeom>
          <a:ln w="22225">
            <a:solidFill>
              <a:srgbClr val="FC652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78A88A3-EE42-ADF6-3AEF-896364F05ADE}"/>
              </a:ext>
            </a:extLst>
          </p:cNvPr>
          <p:cNvCxnSpPr/>
          <p:nvPr/>
        </p:nvCxnSpPr>
        <p:spPr>
          <a:xfrm flipH="1">
            <a:off x="6786325" y="4667166"/>
            <a:ext cx="3012558" cy="0"/>
          </a:xfrm>
          <a:prstGeom prst="straightConnector1">
            <a:avLst/>
          </a:prstGeom>
          <a:ln w="22225">
            <a:solidFill>
              <a:srgbClr val="FC6528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DBF37D8-895E-1CC4-1148-728BA8F4A01A}"/>
              </a:ext>
            </a:extLst>
          </p:cNvPr>
          <p:cNvSpPr txBox="1"/>
          <p:nvPr/>
        </p:nvSpPr>
        <p:spPr>
          <a:xfrm>
            <a:off x="7724660" y="3832279"/>
            <a:ext cx="1136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C65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“Marco”</a:t>
            </a:r>
            <a:endParaRPr lang="en-GB" sz="2000" dirty="0">
              <a:solidFill>
                <a:srgbClr val="FC652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AB41C9-C795-280A-8E88-722686674008}"/>
              </a:ext>
            </a:extLst>
          </p:cNvPr>
          <p:cNvSpPr txBox="1"/>
          <p:nvPr/>
        </p:nvSpPr>
        <p:spPr>
          <a:xfrm>
            <a:off x="7855282" y="4276863"/>
            <a:ext cx="874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“Polo”</a:t>
            </a:r>
            <a:endParaRPr lang="en-GB" sz="20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1" name="Graphic 40" descr="Male profile with solid fill">
            <a:extLst>
              <a:ext uri="{FF2B5EF4-FFF2-40B4-BE49-F238E27FC236}">
                <a16:creationId xmlns:a16="http://schemas.microsoft.com/office/drawing/2014/main" id="{0C34A37D-6271-C346-7D53-A5D398D00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2808" y="3696119"/>
            <a:ext cx="462833" cy="462833"/>
          </a:xfrm>
          <a:prstGeom prst="rect">
            <a:avLst/>
          </a:prstGeom>
        </p:spPr>
      </p:pic>
      <p:pic>
        <p:nvPicPr>
          <p:cNvPr id="43" name="Graphic 42" descr="Devil face outline with solid fill">
            <a:extLst>
              <a:ext uri="{FF2B5EF4-FFF2-40B4-BE49-F238E27FC236}">
                <a16:creationId xmlns:a16="http://schemas.microsoft.com/office/drawing/2014/main" id="{AF7FEE75-B227-703B-364E-BD47AF85B3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42321" y="4972570"/>
            <a:ext cx="691238" cy="691238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1D98483-3271-25AE-2726-AE6AB70216E1}"/>
              </a:ext>
            </a:extLst>
          </p:cNvPr>
          <p:cNvCxnSpPr/>
          <p:nvPr/>
        </p:nvCxnSpPr>
        <p:spPr>
          <a:xfrm flipH="1">
            <a:off x="6786325" y="5220650"/>
            <a:ext cx="3012558" cy="0"/>
          </a:xfrm>
          <a:prstGeom prst="straightConnector1">
            <a:avLst/>
          </a:prstGeom>
          <a:ln w="22225">
            <a:solidFill>
              <a:srgbClr val="FC652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905FB4E-85FC-1E46-D289-630CD057ECAE}"/>
              </a:ext>
            </a:extLst>
          </p:cNvPr>
          <p:cNvCxnSpPr/>
          <p:nvPr/>
        </p:nvCxnSpPr>
        <p:spPr>
          <a:xfrm flipH="1">
            <a:off x="6786325" y="5638094"/>
            <a:ext cx="3012558" cy="0"/>
          </a:xfrm>
          <a:prstGeom prst="straightConnector1">
            <a:avLst/>
          </a:prstGeom>
          <a:ln w="22225">
            <a:solidFill>
              <a:srgbClr val="FC6528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7E725B0-B534-25D5-C5D4-24868F9D32B2}"/>
              </a:ext>
            </a:extLst>
          </p:cNvPr>
          <p:cNvSpPr txBox="1"/>
          <p:nvPr/>
        </p:nvSpPr>
        <p:spPr>
          <a:xfrm>
            <a:off x="7724660" y="4803207"/>
            <a:ext cx="1136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C65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“Marco”</a:t>
            </a:r>
            <a:endParaRPr lang="en-GB" sz="2000" dirty="0">
              <a:solidFill>
                <a:srgbClr val="FC652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532DD2-C502-443D-7FD7-23499527D3B6}"/>
              </a:ext>
            </a:extLst>
          </p:cNvPr>
          <p:cNvSpPr txBox="1"/>
          <p:nvPr/>
        </p:nvSpPr>
        <p:spPr>
          <a:xfrm>
            <a:off x="7855282" y="5247791"/>
            <a:ext cx="874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“Polo”</a:t>
            </a:r>
            <a:endParaRPr lang="en-GB" sz="20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8" name="Graphic 47" descr="Office worker female with solid fill">
            <a:extLst>
              <a:ext uri="{FF2B5EF4-FFF2-40B4-BE49-F238E27FC236}">
                <a16:creationId xmlns:a16="http://schemas.microsoft.com/office/drawing/2014/main" id="{B909698A-23F0-216B-5160-14AE00B094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30389" y="4752889"/>
            <a:ext cx="989804" cy="989804"/>
          </a:xfrm>
          <a:prstGeom prst="rect">
            <a:avLst/>
          </a:prstGeom>
        </p:spPr>
      </p:pic>
      <p:pic>
        <p:nvPicPr>
          <p:cNvPr id="49" name="Graphic 48" descr="Male profile with solid fill">
            <a:extLst>
              <a:ext uri="{FF2B5EF4-FFF2-40B4-BE49-F238E27FC236}">
                <a16:creationId xmlns:a16="http://schemas.microsoft.com/office/drawing/2014/main" id="{91620BBF-F426-777F-7B8D-D5CCC982E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0573" y="4776569"/>
            <a:ext cx="462833" cy="462833"/>
          </a:xfrm>
          <a:prstGeom prst="rect">
            <a:avLst/>
          </a:prstGeom>
        </p:spPr>
      </p:pic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6521C3A-C568-7576-A0C4-5889D3257F8C}"/>
              </a:ext>
            </a:extLst>
          </p:cNvPr>
          <p:cNvSpPr/>
          <p:nvPr/>
        </p:nvSpPr>
        <p:spPr>
          <a:xfrm>
            <a:off x="5947372" y="3969986"/>
            <a:ext cx="4690463" cy="655387"/>
          </a:xfrm>
          <a:prstGeom prst="round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31000">
                <a:srgbClr val="C00000"/>
              </a:gs>
              <a:gs pos="74000">
                <a:srgbClr val="C00000"/>
              </a:gs>
              <a:gs pos="100000">
                <a:schemeClr val="bg1">
                  <a:lumMod val="50000"/>
                </a:schemeClr>
              </a:gs>
            </a:gsLst>
            <a:lin ang="5400000" scaled="1"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  <a:bevelB prst="convex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Attaque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 </a:t>
            </a:r>
            <a:r>
              <a:rPr lang="en-US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rejeu</a:t>
            </a:r>
            <a:endParaRPr lang="en-GB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BBEE77BE-316E-8DF4-70A9-2FA15913A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23356" cy="4023360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3308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6" grpId="0"/>
      <p:bldP spid="47" grpId="0"/>
      <p:bldP spid="5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42FB22-E24F-E623-F8E2-5B6D16763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3E9E107-F285-2ED7-B106-A7DA0D50C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3C6696-2C80-993F-DBB3-2BEE72B60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728" y="585216"/>
            <a:ext cx="5740739" cy="1499616"/>
          </a:xfrm>
        </p:spPr>
        <p:txBody>
          <a:bodyPr>
            <a:normAutofit/>
          </a:bodyPr>
          <a:lstStyle/>
          <a:p>
            <a:r>
              <a:rPr lang="en-US" dirty="0" err="1"/>
              <a:t>Résistance</a:t>
            </a:r>
            <a:r>
              <a:rPr lang="en-US" dirty="0"/>
              <a:t> aux </a:t>
            </a:r>
            <a:r>
              <a:rPr lang="en-US" dirty="0" err="1"/>
              <a:t>réjeux</a:t>
            </a:r>
            <a:endParaRPr lang="en-GB" dirty="0"/>
          </a:p>
        </p:txBody>
      </p:sp>
      <p:pic>
        <p:nvPicPr>
          <p:cNvPr id="18" name="Graphic 17" descr="Male profile with solid fill">
            <a:extLst>
              <a:ext uri="{FF2B5EF4-FFF2-40B4-BE49-F238E27FC236}">
                <a16:creationId xmlns:a16="http://schemas.microsoft.com/office/drawing/2014/main" id="{D3422F8C-ADBB-30D9-3B2F-97082C90E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49" y="484632"/>
            <a:ext cx="3511948" cy="3511948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05A9585-1E2E-E6CE-6134-31D61D5FC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75766" y="484632"/>
            <a:ext cx="804672" cy="3511948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E856327-921E-D1A7-D2B1-AE06DD146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EF17B36-A042-8B66-D79E-A5B88771F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7150" y="4150596"/>
            <a:ext cx="477182" cy="223180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Office worker female with solid fill">
            <a:extLst>
              <a:ext uri="{FF2B5EF4-FFF2-40B4-BE49-F238E27FC236}">
                <a16:creationId xmlns:a16="http://schemas.microsoft.com/office/drawing/2014/main" id="{C93914E5-A073-D9DA-7ACC-6D3FE42B83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88924" y="4150596"/>
            <a:ext cx="2231808" cy="223180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0DEA9-2841-C28F-498D-0E62FA54C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1728" y="1908315"/>
            <a:ext cx="6001733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Challenge/</a:t>
            </a:r>
            <a:r>
              <a:rPr lang="en-US" dirty="0" err="1"/>
              <a:t>réponse</a:t>
            </a:r>
            <a:r>
              <a:rPr lang="en-US" dirty="0"/>
              <a:t> non-</a:t>
            </a:r>
            <a:r>
              <a:rPr lang="en-US" dirty="0" err="1"/>
              <a:t>rejouable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imprévisible</a:t>
            </a: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</p:txBody>
      </p:sp>
      <p:pic>
        <p:nvPicPr>
          <p:cNvPr id="21" name="Graphic 20" descr="Male profile with solid fill">
            <a:extLst>
              <a:ext uri="{FF2B5EF4-FFF2-40B4-BE49-F238E27FC236}">
                <a16:creationId xmlns:a16="http://schemas.microsoft.com/office/drawing/2014/main" id="{3CD51E48-F1EF-2D61-CBE5-8236FE86F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3089" y="2835041"/>
            <a:ext cx="989804" cy="989804"/>
          </a:xfrm>
          <a:prstGeom prst="rect">
            <a:avLst/>
          </a:prstGeom>
        </p:spPr>
      </p:pic>
      <p:pic>
        <p:nvPicPr>
          <p:cNvPr id="22" name="Graphic 21" descr="Office worker female with solid fill">
            <a:extLst>
              <a:ext uri="{FF2B5EF4-FFF2-40B4-BE49-F238E27FC236}">
                <a16:creationId xmlns:a16="http://schemas.microsoft.com/office/drawing/2014/main" id="{C23DE816-20D8-96C4-1D3A-382B03607E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68357" y="2835041"/>
            <a:ext cx="989804" cy="98980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A57EE83-7950-1080-A0F4-779B359FD2F0}"/>
              </a:ext>
            </a:extLst>
          </p:cNvPr>
          <p:cNvSpPr txBox="1"/>
          <p:nvPr/>
        </p:nvSpPr>
        <p:spPr>
          <a:xfrm>
            <a:off x="5609656" y="2490933"/>
            <a:ext cx="12618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Prouveur</a:t>
            </a:r>
            <a:endParaRPr lang="en-GB" sz="2200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F814D8-9569-62C8-F5CA-56409E4E9ECE}"/>
              </a:ext>
            </a:extLst>
          </p:cNvPr>
          <p:cNvSpPr txBox="1"/>
          <p:nvPr/>
        </p:nvSpPr>
        <p:spPr>
          <a:xfrm>
            <a:off x="9536001" y="2490932"/>
            <a:ext cx="16545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Vérificateur</a:t>
            </a:r>
            <a:endParaRPr lang="en-GB" sz="2200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9BA6CDB-C562-F381-1A56-03634D7C4F17}"/>
              </a:ext>
            </a:extLst>
          </p:cNvPr>
          <p:cNvCxnSpPr/>
          <p:nvPr/>
        </p:nvCxnSpPr>
        <p:spPr>
          <a:xfrm flipH="1">
            <a:off x="6786325" y="3305577"/>
            <a:ext cx="3012558" cy="0"/>
          </a:xfrm>
          <a:prstGeom prst="straightConnector1">
            <a:avLst/>
          </a:prstGeom>
          <a:ln w="22225">
            <a:solidFill>
              <a:srgbClr val="FC652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5C6F98C-E8B8-E07A-F992-2E344F9547E5}"/>
              </a:ext>
            </a:extLst>
          </p:cNvPr>
          <p:cNvCxnSpPr/>
          <p:nvPr/>
        </p:nvCxnSpPr>
        <p:spPr>
          <a:xfrm flipH="1">
            <a:off x="6786325" y="3848525"/>
            <a:ext cx="3012558" cy="0"/>
          </a:xfrm>
          <a:prstGeom prst="straightConnector1">
            <a:avLst/>
          </a:prstGeom>
          <a:ln w="22225">
            <a:solidFill>
              <a:srgbClr val="FC6528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DA7E04B-071D-9DCB-98BF-030DB02C22CD}"/>
              </a:ext>
            </a:extLst>
          </p:cNvPr>
          <p:cNvSpPr txBox="1"/>
          <p:nvPr/>
        </p:nvSpPr>
        <p:spPr>
          <a:xfrm>
            <a:off x="7119477" y="2980815"/>
            <a:ext cx="232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C65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b9df428e0404a9b5419904482437d5a1</a:t>
            </a:r>
            <a:endParaRPr lang="en-GB" dirty="0">
              <a:solidFill>
                <a:srgbClr val="FC652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762C4B-5E5C-9A46-9C5C-4D10D2A69E98}"/>
              </a:ext>
            </a:extLst>
          </p:cNvPr>
          <p:cNvSpPr txBox="1"/>
          <p:nvPr/>
        </p:nvSpPr>
        <p:spPr>
          <a:xfrm>
            <a:off x="7188951" y="3525359"/>
            <a:ext cx="232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aa39ed83340d5ec5ea495ab4a46ec89d</a:t>
            </a:r>
            <a:endParaRPr lang="en-GB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Graphic 5" descr="Database outline">
            <a:extLst>
              <a:ext uri="{FF2B5EF4-FFF2-40B4-BE49-F238E27FC236}">
                <a16:creationId xmlns:a16="http://schemas.microsoft.com/office/drawing/2014/main" id="{5DD57655-105F-BFA7-06D6-FD0F2828B4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02208" y="3917527"/>
            <a:ext cx="502854" cy="502854"/>
          </a:xfrm>
          <a:prstGeom prst="rect">
            <a:avLst/>
          </a:prstGeom>
        </p:spPr>
      </p:pic>
      <p:pic>
        <p:nvPicPr>
          <p:cNvPr id="7" name="Graphic 6" descr="Male profile with solid fill">
            <a:extLst>
              <a:ext uri="{FF2B5EF4-FFF2-40B4-BE49-F238E27FC236}">
                <a16:creationId xmlns:a16="http://schemas.microsoft.com/office/drawing/2014/main" id="{AB66B0BA-EFB7-4D30-3B8C-15B9D67CA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4104" y="3930363"/>
            <a:ext cx="477182" cy="477182"/>
          </a:xfrm>
          <a:prstGeom prst="rect">
            <a:avLst/>
          </a:prstGeom>
        </p:spPr>
      </p:pic>
      <p:pic>
        <p:nvPicPr>
          <p:cNvPr id="8" name="Graphic 7" descr="Office worker female with solid fill">
            <a:extLst>
              <a:ext uri="{FF2B5EF4-FFF2-40B4-BE49-F238E27FC236}">
                <a16:creationId xmlns:a16="http://schemas.microsoft.com/office/drawing/2014/main" id="{E2B98E3E-643A-5231-C49C-7317EAF85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68357" y="4460458"/>
            <a:ext cx="989804" cy="989804"/>
          </a:xfrm>
          <a:prstGeom prst="rect">
            <a:avLst/>
          </a:prstGeom>
        </p:spPr>
      </p:pic>
      <p:pic>
        <p:nvPicPr>
          <p:cNvPr id="9" name="Graphic 8" descr="Male profile with solid fill">
            <a:extLst>
              <a:ext uri="{FF2B5EF4-FFF2-40B4-BE49-F238E27FC236}">
                <a16:creationId xmlns:a16="http://schemas.microsoft.com/office/drawing/2014/main" id="{A292B885-C27E-FA53-6D20-115D8687D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3089" y="4460458"/>
            <a:ext cx="989804" cy="98980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F6E8988-B086-1A30-9383-8CA1F5CB799A}"/>
              </a:ext>
            </a:extLst>
          </p:cNvPr>
          <p:cNvCxnSpPr/>
          <p:nvPr/>
        </p:nvCxnSpPr>
        <p:spPr>
          <a:xfrm flipH="1">
            <a:off x="6798846" y="4716233"/>
            <a:ext cx="3012558" cy="0"/>
          </a:xfrm>
          <a:prstGeom prst="straightConnector1">
            <a:avLst/>
          </a:prstGeom>
          <a:ln w="22225">
            <a:solidFill>
              <a:srgbClr val="FC652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A93DC3-201A-8F2C-4FC8-43C789D62BE0}"/>
              </a:ext>
            </a:extLst>
          </p:cNvPr>
          <p:cNvCxnSpPr/>
          <p:nvPr/>
        </p:nvCxnSpPr>
        <p:spPr>
          <a:xfrm flipH="1">
            <a:off x="6798846" y="5259181"/>
            <a:ext cx="3012558" cy="0"/>
          </a:xfrm>
          <a:prstGeom prst="straightConnector1">
            <a:avLst/>
          </a:prstGeom>
          <a:ln w="22225">
            <a:solidFill>
              <a:srgbClr val="FC6528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4330488-1495-9D02-6D69-E3187217498D}"/>
              </a:ext>
            </a:extLst>
          </p:cNvPr>
          <p:cNvSpPr txBox="1"/>
          <p:nvPr/>
        </p:nvSpPr>
        <p:spPr>
          <a:xfrm>
            <a:off x="7131998" y="4391471"/>
            <a:ext cx="232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C65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88c17fcaa48c4b0c7a47753cae7a6ce4</a:t>
            </a:r>
            <a:endParaRPr lang="en-GB" dirty="0">
              <a:solidFill>
                <a:srgbClr val="FC652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FB3790-59BF-E344-6378-641853645C1B}"/>
              </a:ext>
            </a:extLst>
          </p:cNvPr>
          <p:cNvSpPr txBox="1"/>
          <p:nvPr/>
        </p:nvSpPr>
        <p:spPr>
          <a:xfrm>
            <a:off x="7201472" y="4936015"/>
            <a:ext cx="232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04c1a0d976182444adb6c9f0ad0044d3</a:t>
            </a:r>
            <a:endParaRPr lang="en-GB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4" name="Graphic 13" descr="Devil face outline with solid fill">
            <a:extLst>
              <a:ext uri="{FF2B5EF4-FFF2-40B4-BE49-F238E27FC236}">
                <a16:creationId xmlns:a16="http://schemas.microsoft.com/office/drawing/2014/main" id="{8D6504C1-3477-7EE9-39CF-ABAA7EC5EC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52372" y="5826763"/>
            <a:ext cx="691238" cy="691238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FC172D3-AC84-5607-C750-6510A0DC4464}"/>
              </a:ext>
            </a:extLst>
          </p:cNvPr>
          <p:cNvCxnSpPr/>
          <p:nvPr/>
        </p:nvCxnSpPr>
        <p:spPr>
          <a:xfrm flipH="1">
            <a:off x="6774346" y="6091170"/>
            <a:ext cx="3012558" cy="0"/>
          </a:xfrm>
          <a:prstGeom prst="straightConnector1">
            <a:avLst/>
          </a:prstGeom>
          <a:ln w="22225">
            <a:solidFill>
              <a:srgbClr val="FC652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A082EC9-B9F1-2061-8C1A-6685F5307AED}"/>
              </a:ext>
            </a:extLst>
          </p:cNvPr>
          <p:cNvCxnSpPr/>
          <p:nvPr/>
        </p:nvCxnSpPr>
        <p:spPr>
          <a:xfrm flipH="1">
            <a:off x="6786325" y="6637636"/>
            <a:ext cx="3012558" cy="0"/>
          </a:xfrm>
          <a:prstGeom prst="straightConnector1">
            <a:avLst/>
          </a:prstGeom>
          <a:ln w="22225">
            <a:solidFill>
              <a:srgbClr val="FC6528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736D2E9-CF5E-B9F7-CAAD-AC37E73D22D8}"/>
              </a:ext>
            </a:extLst>
          </p:cNvPr>
          <p:cNvSpPr txBox="1"/>
          <p:nvPr/>
        </p:nvSpPr>
        <p:spPr>
          <a:xfrm>
            <a:off x="7258217" y="6289823"/>
            <a:ext cx="2285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sz="20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euhm</a:t>
            </a:r>
            <a:r>
              <a:rPr lang="en-US" sz="2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 Polo ? ”</a:t>
            </a:r>
            <a:endParaRPr lang="en-GB" sz="20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A71DB4-8E71-34C2-5B9F-76A266426439}"/>
              </a:ext>
            </a:extLst>
          </p:cNvPr>
          <p:cNvSpPr txBox="1"/>
          <p:nvPr/>
        </p:nvSpPr>
        <p:spPr>
          <a:xfrm>
            <a:off x="7186980" y="5744674"/>
            <a:ext cx="232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C65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066f9989c3971d37963896505d0b5383</a:t>
            </a:r>
            <a:endParaRPr lang="en-GB" dirty="0">
              <a:solidFill>
                <a:srgbClr val="FC652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3" name="Graphic 32" descr="Office worker female with solid fill">
            <a:extLst>
              <a:ext uri="{FF2B5EF4-FFF2-40B4-BE49-F238E27FC236}">
                <a16:creationId xmlns:a16="http://schemas.microsoft.com/office/drawing/2014/main" id="{AA9A706F-13C2-5DB8-50F7-1314AD4686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72913" y="5794921"/>
            <a:ext cx="989804" cy="989804"/>
          </a:xfrm>
          <a:prstGeom prst="rect">
            <a:avLst/>
          </a:prstGeom>
        </p:spPr>
      </p:pic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BDDCE5E-6A91-1B55-56F2-5578E8DA2B63}"/>
              </a:ext>
            </a:extLst>
          </p:cNvPr>
          <p:cNvSpPr/>
          <p:nvPr/>
        </p:nvSpPr>
        <p:spPr>
          <a:xfrm>
            <a:off x="6047484" y="4071855"/>
            <a:ext cx="4810677" cy="1449833"/>
          </a:xfrm>
          <a:prstGeom prst="roundRect">
            <a:avLst>
              <a:gd name="adj" fmla="val 44088"/>
            </a:avLst>
          </a:prstGeom>
          <a:gradFill>
            <a:gsLst>
              <a:gs pos="0">
                <a:schemeClr val="bg1">
                  <a:lumMod val="50000"/>
                </a:schemeClr>
              </a:gs>
              <a:gs pos="31000">
                <a:srgbClr val="C00000"/>
              </a:gs>
              <a:gs pos="74000">
                <a:srgbClr val="C00000"/>
              </a:gs>
              <a:gs pos="100000">
                <a:schemeClr val="bg1">
                  <a:lumMod val="50000"/>
                </a:schemeClr>
              </a:gs>
            </a:gsLst>
            <a:lin ang="5400000" scaled="1"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Comment </a:t>
            </a:r>
            <a:r>
              <a:rPr lang="en-US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générer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/stocker les </a:t>
            </a:r>
            <a:r>
              <a:rPr lang="en-US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défis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réponses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?</a:t>
            </a:r>
            <a:endParaRPr lang="en-GB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7593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" grpId="0"/>
      <p:bldP spid="12" grpId="0"/>
      <p:bldP spid="13" grpId="0"/>
      <p:bldP spid="19" grpId="0"/>
      <p:bldP spid="26" grpId="0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F4091F-92C5-B8E7-F1DC-78ECD7E53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98BEEE1-AED8-C2E0-5699-CED7B00C74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2E67D6-EFA4-3947-C430-8A1D96708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728" y="585216"/>
            <a:ext cx="5740739" cy="1499616"/>
          </a:xfrm>
        </p:spPr>
        <p:txBody>
          <a:bodyPr>
            <a:normAutofit/>
          </a:bodyPr>
          <a:lstStyle/>
          <a:p>
            <a:r>
              <a:rPr lang="en-US" dirty="0" err="1"/>
              <a:t>L’authentification</a:t>
            </a:r>
            <a:r>
              <a:rPr lang="en-US" dirty="0"/>
              <a:t> </a:t>
            </a:r>
            <a:r>
              <a:rPr lang="en-US" dirty="0" err="1"/>
              <a:t>symétrique</a:t>
            </a:r>
            <a:endParaRPr lang="en-GB" dirty="0"/>
          </a:p>
        </p:txBody>
      </p:sp>
      <p:pic>
        <p:nvPicPr>
          <p:cNvPr id="18" name="Graphic 17" descr="Male profile with solid fill">
            <a:extLst>
              <a:ext uri="{FF2B5EF4-FFF2-40B4-BE49-F238E27FC236}">
                <a16:creationId xmlns:a16="http://schemas.microsoft.com/office/drawing/2014/main" id="{896DA395-3E85-F288-AE20-6A11C1531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49" y="484632"/>
            <a:ext cx="3511948" cy="3511948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0E1E0082-253B-3E07-BB67-1179EA517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75766" y="484632"/>
            <a:ext cx="804672" cy="3511948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57FDB23-289D-6858-AF02-0FF17F565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80FB4EF-FBAE-81FC-ACBF-8A034BA1F8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7150" y="4150596"/>
            <a:ext cx="477182" cy="223180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Office worker female with solid fill">
            <a:extLst>
              <a:ext uri="{FF2B5EF4-FFF2-40B4-BE49-F238E27FC236}">
                <a16:creationId xmlns:a16="http://schemas.microsoft.com/office/drawing/2014/main" id="{E52128F9-DFED-38F6-E190-6D249D565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88924" y="4150596"/>
            <a:ext cx="2231808" cy="223180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2DBF8-05F4-D209-F540-A76EF13D3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1728" y="2286000"/>
            <a:ext cx="5955350" cy="17105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Clé </a:t>
            </a:r>
            <a:r>
              <a:rPr lang="en-US" dirty="0" err="1"/>
              <a:t>symétrique</a:t>
            </a:r>
            <a:r>
              <a:rPr lang="en-US" dirty="0"/>
              <a:t> </a:t>
            </a:r>
            <a:r>
              <a:rPr lang="en-US" dirty="0" err="1"/>
              <a:t>partagée</a:t>
            </a:r>
            <a:r>
              <a:rPr lang="en-US" dirty="0"/>
              <a:t> : </a:t>
            </a:r>
            <a:r>
              <a:rPr lang="en-US" dirty="0" err="1"/>
              <a:t>prouveur</a:t>
            </a:r>
            <a:r>
              <a:rPr lang="en-US" dirty="0"/>
              <a:t>/</a:t>
            </a:r>
            <a:r>
              <a:rPr lang="en-US" dirty="0" err="1"/>
              <a:t>vérificateur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Authentifier</a:t>
            </a:r>
            <a:r>
              <a:rPr lang="en-US" dirty="0"/>
              <a:t> le </a:t>
            </a:r>
            <a:r>
              <a:rPr lang="en-US" dirty="0" err="1"/>
              <a:t>défi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utilisant</a:t>
            </a:r>
            <a:r>
              <a:rPr lang="en-US" dirty="0"/>
              <a:t> un </a:t>
            </a:r>
            <a:r>
              <a:rPr lang="en-US" dirty="0" err="1"/>
              <a:t>schéma</a:t>
            </a:r>
            <a:r>
              <a:rPr lang="en-US" dirty="0"/>
              <a:t> de MAC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Typiquement</a:t>
            </a:r>
            <a:r>
              <a:rPr lang="en-US" dirty="0"/>
              <a:t> HMAC-SHA-256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21" name="Graphic 20" descr="Male profile with solid fill">
            <a:extLst>
              <a:ext uri="{FF2B5EF4-FFF2-40B4-BE49-F238E27FC236}">
                <a16:creationId xmlns:a16="http://schemas.microsoft.com/office/drawing/2014/main" id="{9ADAB1F8-48B8-0C5F-8B04-4CB0ADAE5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2015" y="4424758"/>
            <a:ext cx="989804" cy="989804"/>
          </a:xfrm>
          <a:prstGeom prst="rect">
            <a:avLst/>
          </a:prstGeom>
        </p:spPr>
      </p:pic>
      <p:pic>
        <p:nvPicPr>
          <p:cNvPr id="22" name="Graphic 21" descr="Office worker female with solid fill">
            <a:extLst>
              <a:ext uri="{FF2B5EF4-FFF2-40B4-BE49-F238E27FC236}">
                <a16:creationId xmlns:a16="http://schemas.microsoft.com/office/drawing/2014/main" id="{E36E7E5C-F9A1-C0DD-BF70-8295DA772B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7283" y="4424758"/>
            <a:ext cx="989804" cy="98980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09FA4FB-2E98-93A7-E4A2-54CDCF603CD8}"/>
              </a:ext>
            </a:extLst>
          </p:cNvPr>
          <p:cNvSpPr txBox="1"/>
          <p:nvPr/>
        </p:nvSpPr>
        <p:spPr>
          <a:xfrm>
            <a:off x="5908582" y="4080650"/>
            <a:ext cx="12618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Prouveur</a:t>
            </a:r>
            <a:endParaRPr lang="en-GB" sz="2200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1DD645-CD48-186D-3DB7-64A2DCEFD53B}"/>
              </a:ext>
            </a:extLst>
          </p:cNvPr>
          <p:cNvSpPr txBox="1"/>
          <p:nvPr/>
        </p:nvSpPr>
        <p:spPr>
          <a:xfrm>
            <a:off x="9834927" y="4080649"/>
            <a:ext cx="16545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Vérificateur</a:t>
            </a:r>
            <a:endParaRPr lang="en-GB" sz="2200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2C0CEA0-2500-0104-0C8B-C73AB7B8977F}"/>
              </a:ext>
            </a:extLst>
          </p:cNvPr>
          <p:cNvCxnSpPr/>
          <p:nvPr/>
        </p:nvCxnSpPr>
        <p:spPr>
          <a:xfrm flipH="1">
            <a:off x="7085251" y="4895294"/>
            <a:ext cx="3012558" cy="0"/>
          </a:xfrm>
          <a:prstGeom prst="straightConnector1">
            <a:avLst/>
          </a:prstGeom>
          <a:ln w="22225">
            <a:solidFill>
              <a:srgbClr val="FC652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0603E8D-87AE-155B-FE2A-EB4BFB06F2A5}"/>
              </a:ext>
            </a:extLst>
          </p:cNvPr>
          <p:cNvCxnSpPr/>
          <p:nvPr/>
        </p:nvCxnSpPr>
        <p:spPr>
          <a:xfrm flipH="1">
            <a:off x="7087580" y="5722596"/>
            <a:ext cx="3012558" cy="0"/>
          </a:xfrm>
          <a:prstGeom prst="straightConnector1">
            <a:avLst/>
          </a:prstGeom>
          <a:ln w="22225">
            <a:solidFill>
              <a:srgbClr val="FC6528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381650D-772C-BECF-8842-CB9256AECD87}"/>
              </a:ext>
            </a:extLst>
          </p:cNvPr>
          <p:cNvSpPr txBox="1"/>
          <p:nvPr/>
        </p:nvSpPr>
        <p:spPr>
          <a:xfrm>
            <a:off x="7418403" y="4570532"/>
            <a:ext cx="2328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C65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b9df428e0404a9b5419904482437d5a1</a:t>
            </a:r>
            <a:endParaRPr lang="en-GB" dirty="0">
              <a:solidFill>
                <a:srgbClr val="FC652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Graphic 4" descr="Key with solid fill">
            <a:extLst>
              <a:ext uri="{FF2B5EF4-FFF2-40B4-BE49-F238E27FC236}">
                <a16:creationId xmlns:a16="http://schemas.microsoft.com/office/drawing/2014/main" id="{E41AA875-32B5-37B7-593B-D0499D2B88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5466706" y="4572829"/>
            <a:ext cx="644034" cy="644034"/>
          </a:xfrm>
          <a:prstGeom prst="rect">
            <a:avLst/>
          </a:prstGeom>
        </p:spPr>
      </p:pic>
      <p:pic>
        <p:nvPicPr>
          <p:cNvPr id="6" name="Graphic 5" descr="Key with solid fill">
            <a:extLst>
              <a:ext uri="{FF2B5EF4-FFF2-40B4-BE49-F238E27FC236}">
                <a16:creationId xmlns:a16="http://schemas.microsoft.com/office/drawing/2014/main" id="{E8A6C84D-F790-9C49-4D8C-C8EF914768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11048433" y="4568704"/>
            <a:ext cx="644034" cy="6440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E97561-3D35-0751-A8E0-BC2DD7E3A888}"/>
              </a:ext>
            </a:extLst>
          </p:cNvPr>
          <p:cNvSpPr txBox="1"/>
          <p:nvPr/>
        </p:nvSpPr>
        <p:spPr>
          <a:xfrm>
            <a:off x="7440744" y="5414562"/>
            <a:ext cx="2306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HMAC(key; b9df428e0404a9b5419904482437d5a1)</a:t>
            </a:r>
            <a:endParaRPr lang="en-GB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51027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56F63-9FD1-09FE-488E-F76AD3C83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HMAC : </a:t>
            </a:r>
            <a:r>
              <a:rPr lang="en-US" dirty="0" err="1"/>
              <a:t>imprévisible</a:t>
            </a:r>
            <a:r>
              <a:rPr lang="en-US" dirty="0"/>
              <a:t>,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déterministe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00E24D-6152-A5D1-6A78-9B030F4356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 Message Authentication Codes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 Partage de </a:t>
                </a:r>
                <a:r>
                  <a:rPr lang="en-US" sz="2000" dirty="0" err="1"/>
                  <a:t>clé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secrète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nécessaire</a:t>
                </a:r>
                <a:r>
                  <a:rPr lang="en-US" sz="2000" dirty="0"/>
                  <a:t>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 MAC(</a:t>
                </a:r>
                <a:r>
                  <a:rPr lang="en-US" sz="2000" dirty="0" err="1"/>
                  <a:t>clé</a:t>
                </a:r>
                <a:r>
                  <a:rPr lang="en-US" sz="2000" dirty="0"/>
                  <a:t>; message) </a:t>
                </a:r>
                <a:r>
                  <a:rPr lang="en-US" sz="2000" dirty="0">
                    <a:sym typeface="Wingdings" panose="05000000000000000000" pitchFamily="2" charset="2"/>
                  </a:rPr>
                  <a:t> tag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 err="1">
                    <a:sym typeface="Wingdings" panose="05000000000000000000" pitchFamily="2" charset="2"/>
                  </a:rPr>
                  <a:t>MAC.Vf</a:t>
                </a:r>
                <a:r>
                  <a:rPr lang="en-US" sz="2000" dirty="0">
                    <a:sym typeface="Wingdings" panose="05000000000000000000" pitchFamily="2" charset="2"/>
                  </a:rPr>
                  <a:t>(</a:t>
                </a:r>
                <a:r>
                  <a:rPr lang="en-US" sz="2000" dirty="0" err="1">
                    <a:sym typeface="Wingdings" panose="05000000000000000000" pitchFamily="2" charset="2"/>
                  </a:rPr>
                  <a:t>clé</a:t>
                </a:r>
                <a:r>
                  <a:rPr lang="en-US" sz="2000" dirty="0">
                    <a:sym typeface="Wingdings" panose="05000000000000000000" pitchFamily="2" charset="2"/>
                  </a:rPr>
                  <a:t>; message)  0 (faux), </a:t>
                </a:r>
                <a:r>
                  <a:rPr lang="en-US" sz="2000" dirty="0" err="1">
                    <a:sym typeface="Wingdings" panose="05000000000000000000" pitchFamily="2" charset="2"/>
                  </a:rPr>
                  <a:t>ou</a:t>
                </a:r>
                <a:r>
                  <a:rPr lang="en-US" sz="2000" dirty="0">
                    <a:sym typeface="Wingdings" panose="05000000000000000000" pitchFamily="2" charset="2"/>
                  </a:rPr>
                  <a:t> 1(</a:t>
                </a:r>
                <a:r>
                  <a:rPr lang="en-US" sz="2000" dirty="0" err="1">
                    <a:sym typeface="Wingdings" panose="05000000000000000000" pitchFamily="2" charset="2"/>
                  </a:rPr>
                  <a:t>vrai</a:t>
                </a:r>
                <a:r>
                  <a:rPr lang="en-US" sz="2000" dirty="0">
                    <a:sym typeface="Wingdings" panose="05000000000000000000" pitchFamily="2" charset="2"/>
                  </a:rPr>
                  <a:t>)</a:t>
                </a:r>
                <a:endParaRPr lang="en-GB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GB" dirty="0"/>
                  <a:t> HMAC(k; message) :</a:t>
                </a:r>
              </a:p>
              <a:p>
                <a:pPr marL="0" indent="0">
                  <a:buNone/>
                </a:pPr>
                <a:r>
                  <a:rPr lang="en-US" sz="180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HMAC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endChr m:val="|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𝑖𝑝𝑎𝑑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endChr m:val="|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𝑜𝑝𝑎𝑑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fr-FR" dirty="0"/>
                  <a:t> </a:t>
                </a:r>
              </a:p>
              <a:p>
                <a:pPr marL="0" indent="0">
                  <a:buNone/>
                </a:pPr>
                <a:r>
                  <a:rPr lang="fr-FR" dirty="0"/>
                  <a:t>	</a:t>
                </a:r>
                <a:r>
                  <a:rPr lang="fr-FR" sz="2000" dirty="0" err="1"/>
                  <a:t>ipad</a:t>
                </a:r>
                <a:r>
                  <a:rPr lang="fr-FR" sz="2000" dirty="0"/>
                  <a:t>, </a:t>
                </a:r>
                <a:r>
                  <a:rPr lang="fr-FR" sz="2000" dirty="0" err="1"/>
                  <a:t>opad</a:t>
                </a:r>
                <a:r>
                  <a:rPr lang="fr-FR" sz="2000" dirty="0"/>
                  <a:t> : constantes publiques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GB" dirty="0"/>
                  <a:t> </a:t>
                </a:r>
                <a:r>
                  <a:rPr lang="en-GB" dirty="0" err="1"/>
                  <a:t>Déterministe</a:t>
                </a:r>
                <a:r>
                  <a:rPr lang="en-GB" dirty="0"/>
                  <a:t> : </a:t>
                </a:r>
                <a:r>
                  <a:rPr lang="en-GB" dirty="0" err="1"/>
                  <a:t>même</a:t>
                </a:r>
                <a:r>
                  <a:rPr lang="en-GB" dirty="0"/>
                  <a:t> k et m, </a:t>
                </a:r>
                <a:r>
                  <a:rPr lang="en-GB" dirty="0" err="1"/>
                  <a:t>même</a:t>
                </a:r>
                <a:r>
                  <a:rPr lang="en-GB" dirty="0"/>
                  <a:t> tag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00E24D-6152-A5D1-6A78-9B030F4356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29" t="-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DE3EDE35-C902-B217-7592-E609E5FDCC59}"/>
              </a:ext>
            </a:extLst>
          </p:cNvPr>
          <p:cNvSpPr/>
          <p:nvPr/>
        </p:nvSpPr>
        <p:spPr>
          <a:xfrm rot="20273569">
            <a:off x="9676355" y="4287296"/>
            <a:ext cx="441139" cy="270337"/>
          </a:xfrm>
          <a:prstGeom prst="ellipse">
            <a:avLst/>
          </a:prstGeom>
          <a:pattFill prst="pct20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AB03B9-1326-EA5A-0B69-FA389CD7803B}"/>
              </a:ext>
            </a:extLst>
          </p:cNvPr>
          <p:cNvSpPr/>
          <p:nvPr/>
        </p:nvSpPr>
        <p:spPr>
          <a:xfrm rot="20273569">
            <a:off x="9676355" y="4287297"/>
            <a:ext cx="441139" cy="270337"/>
          </a:xfrm>
          <a:prstGeom prst="ellipse">
            <a:avLst/>
          </a:prstGeom>
          <a:pattFill prst="pct20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E9C994-1956-7192-3A7F-4D24DBB21C33}"/>
              </a:ext>
            </a:extLst>
          </p:cNvPr>
          <p:cNvSpPr/>
          <p:nvPr/>
        </p:nvSpPr>
        <p:spPr>
          <a:xfrm>
            <a:off x="9094013" y="2084832"/>
            <a:ext cx="1095375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KGen</a:t>
            </a:r>
            <a:endParaRPr lang="fr-FR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FF628F9-4DD4-118D-BBA9-A4104213491A}"/>
              </a:ext>
            </a:extLst>
          </p:cNvPr>
          <p:cNvSpPr/>
          <p:nvPr/>
        </p:nvSpPr>
        <p:spPr>
          <a:xfrm>
            <a:off x="7915275" y="4358084"/>
            <a:ext cx="819304" cy="7499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Tag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F427BE-816E-5F47-D0B4-E95924707D00}"/>
              </a:ext>
            </a:extLst>
          </p:cNvPr>
          <p:cNvSpPr/>
          <p:nvPr/>
        </p:nvSpPr>
        <p:spPr>
          <a:xfrm>
            <a:off x="10504695" y="4358084"/>
            <a:ext cx="819304" cy="749900"/>
          </a:xfrm>
          <a:prstGeom prst="roundRect">
            <a:avLst/>
          </a:prstGeom>
          <a:solidFill>
            <a:srgbClr val="F381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Vf</a:t>
            </a:r>
            <a:endParaRPr lang="fr-FR" dirty="0">
              <a:solidFill>
                <a:schemeClr val="tx1"/>
              </a:solidFill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C79DAA3-B347-F377-F7A9-614BAC4DE15C}"/>
              </a:ext>
            </a:extLst>
          </p:cNvPr>
          <p:cNvCxnSpPr>
            <a:cxnSpLocks/>
            <a:stCxn id="10" idx="1"/>
            <a:endCxn id="7" idx="0"/>
          </p:cNvCxnSpPr>
          <p:nvPr/>
        </p:nvCxnSpPr>
        <p:spPr>
          <a:xfrm rot="10800000" flipV="1">
            <a:off x="8324928" y="3518064"/>
            <a:ext cx="1061551" cy="840020"/>
          </a:xfrm>
          <a:prstGeom prst="bentConnector2">
            <a:avLst/>
          </a:prstGeom>
          <a:ln w="15875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C058590-0130-E461-C8B7-9A0FB0AB4DE3}"/>
              </a:ext>
            </a:extLst>
          </p:cNvPr>
          <p:cNvSpPr txBox="1"/>
          <p:nvPr/>
        </p:nvSpPr>
        <p:spPr>
          <a:xfrm>
            <a:off x="9386478" y="3333398"/>
            <a:ext cx="51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</a:t>
            </a:r>
            <a:endParaRPr lang="fr-FR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DA16CE0-6846-8731-A372-1A15CD00EACD}"/>
              </a:ext>
            </a:extLst>
          </p:cNvPr>
          <p:cNvCxnSpPr/>
          <p:nvPr/>
        </p:nvCxnSpPr>
        <p:spPr>
          <a:xfrm>
            <a:off x="9647459" y="2694431"/>
            <a:ext cx="0" cy="638967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C0A0329-8F8E-5BC0-0F3F-C0F608EE322C}"/>
              </a:ext>
            </a:extLst>
          </p:cNvPr>
          <p:cNvCxnSpPr>
            <a:stCxn id="10" idx="3"/>
            <a:endCxn id="8" idx="0"/>
          </p:cNvCxnSpPr>
          <p:nvPr/>
        </p:nvCxnSpPr>
        <p:spPr>
          <a:xfrm>
            <a:off x="9896924" y="3518064"/>
            <a:ext cx="1017423" cy="840020"/>
          </a:xfrm>
          <a:prstGeom prst="bentConnector2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A72324B-3A49-AC11-1CFC-46DC520BD6DC}"/>
              </a:ext>
            </a:extLst>
          </p:cNvPr>
          <p:cNvSpPr txBox="1"/>
          <p:nvPr/>
        </p:nvSpPr>
        <p:spPr>
          <a:xfrm>
            <a:off x="8069705" y="5903452"/>
            <a:ext cx="51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</a:t>
            </a:r>
            <a:endParaRPr lang="fr-FR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491E6D-9D40-8A40-FADB-982D8EA0FAF0}"/>
              </a:ext>
            </a:extLst>
          </p:cNvPr>
          <p:cNvCxnSpPr>
            <a:stCxn id="13" idx="0"/>
            <a:endCxn id="7" idx="2"/>
          </p:cNvCxnSpPr>
          <p:nvPr/>
        </p:nvCxnSpPr>
        <p:spPr>
          <a:xfrm flipH="1" flipV="1">
            <a:off x="8324927" y="5107984"/>
            <a:ext cx="1" cy="795468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7FF7F3-7327-CAC5-69B3-3BCF6CC82659}"/>
              </a:ext>
            </a:extLst>
          </p:cNvPr>
          <p:cNvSpPr txBox="1"/>
          <p:nvPr/>
        </p:nvSpPr>
        <p:spPr>
          <a:xfrm>
            <a:off x="9386478" y="4492956"/>
            <a:ext cx="51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</a:t>
            </a:r>
            <a:endParaRPr lang="fr-FR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7FBAF98-1331-2A04-822F-9C7376FF415C}"/>
              </a:ext>
            </a:extLst>
          </p:cNvPr>
          <p:cNvCxnSpPr/>
          <p:nvPr/>
        </p:nvCxnSpPr>
        <p:spPr>
          <a:xfrm>
            <a:off x="8765872" y="4713206"/>
            <a:ext cx="724381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B09892-CE2A-6BF2-44E7-27A705F046E7}"/>
              </a:ext>
            </a:extLst>
          </p:cNvPr>
          <p:cNvCxnSpPr/>
          <p:nvPr/>
        </p:nvCxnSpPr>
        <p:spPr>
          <a:xfrm>
            <a:off x="9780314" y="4713206"/>
            <a:ext cx="724381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050A139E-5907-3ECA-8765-2BF253FB1B2E}"/>
              </a:ext>
            </a:extLst>
          </p:cNvPr>
          <p:cNvCxnSpPr>
            <a:stCxn id="13" idx="3"/>
            <a:endCxn id="8" idx="2"/>
          </p:cNvCxnSpPr>
          <p:nvPr/>
        </p:nvCxnSpPr>
        <p:spPr>
          <a:xfrm flipV="1">
            <a:off x="8580151" y="5107984"/>
            <a:ext cx="2334196" cy="980134"/>
          </a:xfrm>
          <a:prstGeom prst="bentConnector2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27678A1-0B02-29A6-3FDC-97D461346BBC}"/>
              </a:ext>
            </a:extLst>
          </p:cNvPr>
          <p:cNvCxnSpPr/>
          <p:nvPr/>
        </p:nvCxnSpPr>
        <p:spPr>
          <a:xfrm>
            <a:off x="11323999" y="4733034"/>
            <a:ext cx="29464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73257E3-C701-6B26-1A11-BD61BE064EF0}"/>
              </a:ext>
            </a:extLst>
          </p:cNvPr>
          <p:cNvSpPr txBox="1"/>
          <p:nvPr/>
        </p:nvSpPr>
        <p:spPr>
          <a:xfrm>
            <a:off x="11571962" y="4548368"/>
            <a:ext cx="67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0/1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0463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18166A-0575-8AA0-9858-C9CF2055F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6847E77-1804-762F-B2BC-3591E889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DCC79A-A2FA-9C2E-6E39-B5A565E58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728" y="585216"/>
            <a:ext cx="5740739" cy="1499616"/>
          </a:xfrm>
        </p:spPr>
        <p:txBody>
          <a:bodyPr>
            <a:normAutofit/>
          </a:bodyPr>
          <a:lstStyle/>
          <a:p>
            <a:r>
              <a:rPr lang="en-US" dirty="0"/>
              <a:t>Le </a:t>
            </a:r>
            <a:r>
              <a:rPr lang="en-US" dirty="0" err="1"/>
              <a:t>défi</a:t>
            </a:r>
            <a:r>
              <a:rPr lang="en-US" dirty="0"/>
              <a:t> : </a:t>
            </a:r>
            <a:r>
              <a:rPr lang="en-US" dirty="0" err="1"/>
              <a:t>aléatoire</a:t>
            </a:r>
            <a:endParaRPr lang="en-GB" dirty="0"/>
          </a:p>
        </p:txBody>
      </p:sp>
      <p:pic>
        <p:nvPicPr>
          <p:cNvPr id="18" name="Graphic 17" descr="Male profile with solid fill">
            <a:extLst>
              <a:ext uri="{FF2B5EF4-FFF2-40B4-BE49-F238E27FC236}">
                <a16:creationId xmlns:a16="http://schemas.microsoft.com/office/drawing/2014/main" id="{D263E033-8147-0FD6-B9DC-7DE23CABC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49" y="484632"/>
            <a:ext cx="3511948" cy="3511948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322B23A-3CD5-22C3-D809-8B7FB3146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75766" y="484632"/>
            <a:ext cx="804672" cy="3511948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162DE09-89DB-B0F1-D8D6-ACD828FC2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9DAD366E-ADC5-88EB-4DAB-E8D6E291B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7150" y="4150596"/>
            <a:ext cx="477182" cy="223180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Office worker female with solid fill">
            <a:extLst>
              <a:ext uri="{FF2B5EF4-FFF2-40B4-BE49-F238E27FC236}">
                <a16:creationId xmlns:a16="http://schemas.microsoft.com/office/drawing/2014/main" id="{E946FCA9-A288-2782-6567-B31E866A93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88924" y="4150596"/>
            <a:ext cx="2231808" cy="223180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152E7-90E7-8600-AE78-19C7410EF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701" y="4544997"/>
            <a:ext cx="5955350" cy="17105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HMAC </a:t>
            </a:r>
            <a:r>
              <a:rPr lang="en-US" dirty="0" err="1"/>
              <a:t>produit</a:t>
            </a:r>
            <a:r>
              <a:rPr lang="en-US" dirty="0"/>
              <a:t> des sorties </a:t>
            </a:r>
            <a:r>
              <a:rPr lang="en-US" dirty="0" err="1"/>
              <a:t>imprévisibles</a:t>
            </a:r>
            <a:r>
              <a:rPr lang="en-US" dirty="0"/>
              <a:t> sans </a:t>
            </a:r>
            <a:r>
              <a:rPr lang="en-US" dirty="0" err="1"/>
              <a:t>connaissance</a:t>
            </a:r>
            <a:r>
              <a:rPr lang="en-US" dirty="0"/>
              <a:t> de la </a:t>
            </a:r>
            <a:r>
              <a:rPr lang="en-US" dirty="0" err="1"/>
              <a:t>clé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… Mais la </a:t>
            </a:r>
            <a:r>
              <a:rPr lang="en-US" dirty="0" err="1"/>
              <a:t>sécurité</a:t>
            </a:r>
            <a:r>
              <a:rPr lang="en-US" dirty="0"/>
              <a:t> repose sur le </a:t>
            </a:r>
            <a:r>
              <a:rPr lang="en-US" dirty="0" err="1"/>
              <a:t>caractère</a:t>
            </a:r>
            <a:r>
              <a:rPr lang="en-US" dirty="0"/>
              <a:t> </a:t>
            </a:r>
            <a:r>
              <a:rPr lang="en-US" dirty="0" err="1"/>
              <a:t>aléatoire</a:t>
            </a:r>
            <a:r>
              <a:rPr lang="en-US" dirty="0"/>
              <a:t> des </a:t>
            </a:r>
            <a:r>
              <a:rPr lang="en-US" dirty="0" err="1"/>
              <a:t>défis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21" name="Graphic 20" descr="Male profile with solid fill">
            <a:extLst>
              <a:ext uri="{FF2B5EF4-FFF2-40B4-BE49-F238E27FC236}">
                <a16:creationId xmlns:a16="http://schemas.microsoft.com/office/drawing/2014/main" id="{0A0485DB-81F9-4F6E-1BE4-6721D2B55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8599" y="2213497"/>
            <a:ext cx="989804" cy="989804"/>
          </a:xfrm>
          <a:prstGeom prst="rect">
            <a:avLst/>
          </a:prstGeom>
        </p:spPr>
      </p:pic>
      <p:pic>
        <p:nvPicPr>
          <p:cNvPr id="22" name="Graphic 21" descr="Office worker female with solid fill">
            <a:extLst>
              <a:ext uri="{FF2B5EF4-FFF2-40B4-BE49-F238E27FC236}">
                <a16:creationId xmlns:a16="http://schemas.microsoft.com/office/drawing/2014/main" id="{CD449B7E-57C5-50B6-BC37-7FD5A710C4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3867" y="2213497"/>
            <a:ext cx="989804" cy="98980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C917ECF-E87D-BA50-892F-AAF0C14E9540}"/>
              </a:ext>
            </a:extLst>
          </p:cNvPr>
          <p:cNvSpPr txBox="1"/>
          <p:nvPr/>
        </p:nvSpPr>
        <p:spPr>
          <a:xfrm>
            <a:off x="5905166" y="1869389"/>
            <a:ext cx="12618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Prouveur</a:t>
            </a:r>
            <a:endParaRPr lang="en-GB" sz="2200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B46DA9-077B-8960-DEE4-C384830B0DF0}"/>
              </a:ext>
            </a:extLst>
          </p:cNvPr>
          <p:cNvSpPr txBox="1"/>
          <p:nvPr/>
        </p:nvSpPr>
        <p:spPr>
          <a:xfrm>
            <a:off x="9831511" y="1869388"/>
            <a:ext cx="16545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Vérificateur</a:t>
            </a:r>
            <a:endParaRPr lang="en-GB" sz="2200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109A3CB-F258-3615-8685-DDE4A657D46D}"/>
              </a:ext>
            </a:extLst>
          </p:cNvPr>
          <p:cNvCxnSpPr/>
          <p:nvPr/>
        </p:nvCxnSpPr>
        <p:spPr>
          <a:xfrm flipH="1">
            <a:off x="7081835" y="2684033"/>
            <a:ext cx="3012558" cy="0"/>
          </a:xfrm>
          <a:prstGeom prst="straightConnector1">
            <a:avLst/>
          </a:prstGeom>
          <a:ln w="22225">
            <a:solidFill>
              <a:srgbClr val="FC652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BC3F74A-FB6D-0E1F-F0BD-580813F00CC1}"/>
              </a:ext>
            </a:extLst>
          </p:cNvPr>
          <p:cNvCxnSpPr/>
          <p:nvPr/>
        </p:nvCxnSpPr>
        <p:spPr>
          <a:xfrm flipH="1">
            <a:off x="7084164" y="3511335"/>
            <a:ext cx="3012558" cy="0"/>
          </a:xfrm>
          <a:prstGeom prst="straightConnector1">
            <a:avLst/>
          </a:prstGeom>
          <a:ln w="22225">
            <a:solidFill>
              <a:srgbClr val="FC6528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87DBB5F-A498-9032-9025-86CF24E7DBF9}"/>
              </a:ext>
            </a:extLst>
          </p:cNvPr>
          <p:cNvSpPr txBox="1"/>
          <p:nvPr/>
        </p:nvSpPr>
        <p:spPr>
          <a:xfrm>
            <a:off x="7414987" y="2359271"/>
            <a:ext cx="2328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C65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b9df428e0404a9b5419904482437d5a1</a:t>
            </a:r>
            <a:endParaRPr lang="en-GB" dirty="0">
              <a:solidFill>
                <a:srgbClr val="FC652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Graphic 4" descr="Key with solid fill">
            <a:extLst>
              <a:ext uri="{FF2B5EF4-FFF2-40B4-BE49-F238E27FC236}">
                <a16:creationId xmlns:a16="http://schemas.microsoft.com/office/drawing/2014/main" id="{52137D36-303F-251A-C87C-4DA3F5BEEA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5463290" y="2361568"/>
            <a:ext cx="644034" cy="644034"/>
          </a:xfrm>
          <a:prstGeom prst="rect">
            <a:avLst/>
          </a:prstGeom>
        </p:spPr>
      </p:pic>
      <p:pic>
        <p:nvPicPr>
          <p:cNvPr id="6" name="Graphic 5" descr="Key with solid fill">
            <a:extLst>
              <a:ext uri="{FF2B5EF4-FFF2-40B4-BE49-F238E27FC236}">
                <a16:creationId xmlns:a16="http://schemas.microsoft.com/office/drawing/2014/main" id="{EE3A4C96-B5E3-A5C3-877F-EC57D41E15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11045017" y="2357443"/>
            <a:ext cx="644034" cy="6440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19610F-F772-92A9-ABEA-6E1082E54AD9}"/>
              </a:ext>
            </a:extLst>
          </p:cNvPr>
          <p:cNvSpPr txBox="1"/>
          <p:nvPr/>
        </p:nvSpPr>
        <p:spPr>
          <a:xfrm>
            <a:off x="7437328" y="3203301"/>
            <a:ext cx="2306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HMAC(key; b9df428e0404a9b5419904482437d5a1)</a:t>
            </a:r>
            <a:endParaRPr lang="en-GB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0650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FA734-E4EC-4EF8-AEFA-2D435EE96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Aléatoire</a:t>
            </a:r>
            <a:r>
              <a:rPr lang="en-US" dirty="0"/>
              <a:t> ?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03670-9B24-47AB-9DDA-25298731F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7C55C60-155A-400F-99C8-25E1F13DC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988" y="4631402"/>
            <a:ext cx="1547812" cy="1906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6034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FB101-1184-2849-2893-CB8710AE9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4732244" cy="1499616"/>
          </a:xfrm>
        </p:spPr>
        <p:txBody>
          <a:bodyPr>
            <a:normAutofit/>
          </a:bodyPr>
          <a:lstStyle/>
          <a:p>
            <a:r>
              <a:rPr lang="en-US" dirty="0" err="1"/>
              <a:t>Aléatoire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715D3-F324-9881-A714-111951A75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4656236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Je </a:t>
            </a:r>
            <a:r>
              <a:rPr lang="en-US" dirty="0" err="1"/>
              <a:t>veux</a:t>
            </a:r>
            <a:r>
              <a:rPr lang="en-US" dirty="0"/>
              <a:t> </a:t>
            </a:r>
            <a:r>
              <a:rPr lang="en-US" dirty="0" err="1"/>
              <a:t>tirer</a:t>
            </a:r>
            <a:r>
              <a:rPr lang="en-US" dirty="0"/>
              <a:t> un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aléatoirement</a:t>
            </a:r>
            <a:r>
              <a:rPr lang="en-US" dirty="0"/>
              <a:t> entre 1 et 6 : </a:t>
            </a:r>
            <a:r>
              <a:rPr lang="en-US" dirty="0" err="1"/>
              <a:t>j’utilise</a:t>
            </a:r>
            <a:r>
              <a:rPr lang="en-US" dirty="0"/>
              <a:t> un d6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Je </a:t>
            </a:r>
            <a:r>
              <a:rPr lang="en-US" dirty="0" err="1"/>
              <a:t>veux</a:t>
            </a:r>
            <a:r>
              <a:rPr lang="en-US" dirty="0"/>
              <a:t> </a:t>
            </a:r>
            <a:r>
              <a:rPr lang="en-US" dirty="0" err="1"/>
              <a:t>tirer</a:t>
            </a:r>
            <a:r>
              <a:rPr lang="en-US" dirty="0"/>
              <a:t> un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aléatoirement</a:t>
            </a:r>
            <a:r>
              <a:rPr lang="en-US" dirty="0"/>
              <a:t> entre 1 et 20 : </a:t>
            </a:r>
            <a:r>
              <a:rPr lang="en-US" dirty="0" err="1"/>
              <a:t>j’utilise</a:t>
            </a:r>
            <a:r>
              <a:rPr lang="en-US" dirty="0"/>
              <a:t> un d20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Je </a:t>
            </a:r>
            <a:r>
              <a:rPr lang="en-US" dirty="0" err="1"/>
              <a:t>veux</a:t>
            </a:r>
            <a:r>
              <a:rPr lang="en-US" dirty="0"/>
              <a:t> </a:t>
            </a:r>
            <a:r>
              <a:rPr lang="en-US" dirty="0" err="1"/>
              <a:t>tirer</a:t>
            </a:r>
            <a:r>
              <a:rPr lang="en-US" dirty="0"/>
              <a:t> un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aléatoirement</a:t>
            </a:r>
            <a:r>
              <a:rPr lang="en-US" dirty="0"/>
              <a:t> entre 1 et 2 : </a:t>
            </a:r>
            <a:r>
              <a:rPr lang="en-US" dirty="0" err="1"/>
              <a:t>j’utilise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pièce</a:t>
            </a:r>
            <a:endParaRPr lang="en-GB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9D431EF2-5A31-4C05-AA3E-4580F5534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3275" y="0"/>
            <a:ext cx="610545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67678399-6817-4845-9B59-E82951B0B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009" y="321731"/>
            <a:ext cx="3932506" cy="36622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How do you measure partial success on a d20 roll? | Tabletop Roleplaying  Open | RPGnet Forums">
            <a:extLst>
              <a:ext uri="{FF2B5EF4-FFF2-40B4-BE49-F238E27FC236}">
                <a16:creationId xmlns:a16="http://schemas.microsoft.com/office/drawing/2014/main" id="{FCD15D97-06E0-AE66-A788-28A59FF72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02482" y="484068"/>
            <a:ext cx="3337560" cy="333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044E73A-9DB7-46CD-9B4D-9DE9FB5E6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09128" y="321732"/>
            <a:ext cx="1352695" cy="3668542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F8057F48-2FD4-4DD3-B887-FEE2B4475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008" y="4157447"/>
            <a:ext cx="2104750" cy="2312282"/>
          </a:xfrm>
          <a:prstGeom prst="rect">
            <a:avLst/>
          </a:prstGeom>
          <a:solidFill>
            <a:schemeClr val="accent2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7A4469D8-5936-48B8-AF0C-37FF2AEE2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0625" y="4157447"/>
            <a:ext cx="3206709" cy="23122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In D &amp; D 5E, what is the 'hit dice'? I have not seen any use in them. In  Combat you use a weapon by rolling a D20 adding attack bonus and">
            <a:extLst>
              <a:ext uri="{FF2B5EF4-FFF2-40B4-BE49-F238E27FC236}">
                <a16:creationId xmlns:a16="http://schemas.microsoft.com/office/drawing/2014/main" id="{EF28E34E-F0A7-E425-74B8-379BE1DAC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41309" y="4321464"/>
            <a:ext cx="2865340" cy="1984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10D28D86-3E33-28D0-9565-150F82EB0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2482" y="4398807"/>
            <a:ext cx="1547812" cy="1906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9A1695D-649D-E446-905F-181AC41BE4C5}"/>
              </a:ext>
            </a:extLst>
          </p:cNvPr>
          <p:cNvSpPr/>
          <p:nvPr/>
        </p:nvSpPr>
        <p:spPr>
          <a:xfrm>
            <a:off x="764665" y="4708493"/>
            <a:ext cx="4810677" cy="1449833"/>
          </a:xfrm>
          <a:prstGeom prst="roundRect">
            <a:avLst>
              <a:gd name="adj" fmla="val 44088"/>
            </a:avLst>
          </a:prstGeom>
          <a:gradFill>
            <a:gsLst>
              <a:gs pos="0">
                <a:schemeClr val="bg1">
                  <a:lumMod val="50000"/>
                </a:schemeClr>
              </a:gs>
              <a:gs pos="31000">
                <a:srgbClr val="C00000"/>
              </a:gs>
              <a:gs pos="74000">
                <a:srgbClr val="C00000"/>
              </a:gs>
              <a:gs pos="100000">
                <a:schemeClr val="bg1">
                  <a:lumMod val="50000"/>
                </a:schemeClr>
              </a:gs>
            </a:gsLst>
            <a:lin ang="5400000" scaled="1"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Comment je </a:t>
            </a:r>
            <a:r>
              <a:rPr lang="en-US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sais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le </a:t>
            </a:r>
            <a:r>
              <a:rPr lang="en-US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dès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/la pièce </a:t>
            </a:r>
            <a:r>
              <a:rPr lang="en-US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equitable ?</a:t>
            </a:r>
            <a:endParaRPr lang="en-GB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97663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F4F8B-BF6B-E9E6-CDE3-DE170CAFC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673" y="585216"/>
            <a:ext cx="4866794" cy="1499616"/>
          </a:xfrm>
        </p:spPr>
        <p:txBody>
          <a:bodyPr>
            <a:normAutofit/>
          </a:bodyPr>
          <a:lstStyle/>
          <a:p>
            <a:r>
              <a:rPr lang="en-US"/>
              <a:t>Équitabilité</a:t>
            </a:r>
            <a:endParaRPr lang="en-GB" dirty="0"/>
          </a:p>
        </p:txBody>
      </p:sp>
      <p:pic>
        <p:nvPicPr>
          <p:cNvPr id="2052" name="Picture 4" descr="Wizard RPG Miniatures">
            <a:extLst>
              <a:ext uri="{FF2B5EF4-FFF2-40B4-BE49-F238E27FC236}">
                <a16:creationId xmlns:a16="http://schemas.microsoft.com/office/drawing/2014/main" id="{5D1C6AAB-B6FB-3D8F-3104-8FB886C13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7" r="484" b="3"/>
          <a:stretch>
            <a:fillRect/>
          </a:stretch>
        </p:blipFill>
        <p:spPr bwMode="auto">
          <a:xfrm>
            <a:off x="1" y="10"/>
            <a:ext cx="2934472" cy="3315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oll tabletop roleplaying dice | dddice">
            <a:extLst>
              <a:ext uri="{FF2B5EF4-FFF2-40B4-BE49-F238E27FC236}">
                <a16:creationId xmlns:a16="http://schemas.microsoft.com/office/drawing/2014/main" id="{1B87B450-01B6-B6A7-0B6C-B953605DC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4" r="4628" b="2"/>
          <a:stretch>
            <a:fillRect/>
          </a:stretch>
        </p:blipFill>
        <p:spPr bwMode="auto">
          <a:xfrm>
            <a:off x="3095339" y="10"/>
            <a:ext cx="2999073" cy="3315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1" name="Straight Connector 2060">
            <a:extLst>
              <a:ext uri="{FF2B5EF4-FFF2-40B4-BE49-F238E27FC236}">
                <a16:creationId xmlns:a16="http://schemas.microsoft.com/office/drawing/2014/main" id="{920FB216-68C6-4BA4-BE3A-D150792A2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631711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930422-07E8-E5DC-E12E-DCB0FBD38D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25673" y="1881809"/>
                <a:ext cx="4866794" cy="4427551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 = </a:t>
                </a:r>
                <a:r>
                  <a:rPr lang="en-US" sz="2000" dirty="0" err="1"/>
                  <a:t>toutes</a:t>
                </a:r>
                <a:r>
                  <a:rPr lang="en-US" sz="2000" dirty="0"/>
                  <a:t> les </a:t>
                </a:r>
                <a:r>
                  <a:rPr lang="en-US" sz="2000" dirty="0" err="1"/>
                  <a:t>valeurs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sont</a:t>
                </a:r>
                <a:r>
                  <a:rPr lang="en-US" sz="2000" dirty="0"/>
                  <a:t> </a:t>
                </a:r>
                <a:r>
                  <a:rPr lang="en-US" sz="2000" dirty="0" err="1"/>
                  <a:t>équiprobables</a:t>
                </a:r>
                <a:r>
                  <a:rPr lang="en-US" sz="2000" dirty="0"/>
                  <a:t> ? 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</a:p>
              <a:p>
                <a:pPr>
                  <a:spcBef>
                    <a:spcPts val="2400"/>
                  </a:spcBef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 Ensemble de </a:t>
                </a:r>
                <a:r>
                  <a:rPr lang="en-US" sz="2000" dirty="0" err="1"/>
                  <a:t>valeurs</a:t>
                </a:r>
                <a:r>
                  <a:rPr lang="en-US" sz="2000" dirty="0"/>
                  <a:t> possibles 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 d6 : {1, 2, …., 6}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 d20 : {1, 2, … , 20}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 pièce : {1, 2}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 </a:t>
                </a:r>
                <a:r>
                  <a:rPr lang="en-US" dirty="0" err="1"/>
                  <a:t>cryptographie</a:t>
                </a:r>
                <a:r>
                  <a:rPr lang="en-US" dirty="0"/>
                  <a:t> : 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$</m:t>
                        </m:r>
                      </m:e>
                    </m:groupCh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0, 1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256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 6 </a:t>
                </a:r>
                <a:r>
                  <a:rPr lang="en-US" sz="2000" dirty="0" err="1"/>
                  <a:t>jetés</a:t>
                </a:r>
                <a:r>
                  <a:rPr lang="en-US" sz="2000" dirty="0"/>
                  <a:t> d6 me </a:t>
                </a:r>
                <a:r>
                  <a:rPr lang="en-US" sz="2000" dirty="0" err="1"/>
                  <a:t>donnent</a:t>
                </a:r>
                <a:r>
                  <a:rPr lang="en-US" sz="2000" dirty="0"/>
                  <a:t> : {2, 6, 2, 3, 1, 5}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n-US" sz="16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GB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930422-07E8-E5DC-E12E-DCB0FBD38D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25673" y="1881809"/>
                <a:ext cx="4866794" cy="4427551"/>
              </a:xfrm>
              <a:blipFill>
                <a:blip r:embed="rId4"/>
                <a:stretch>
                  <a:fillRect l="-2130" t="-15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4" name="Picture 6" descr="What Each DND Dice Is For – Victorydice">
            <a:extLst>
              <a:ext uri="{FF2B5EF4-FFF2-40B4-BE49-F238E27FC236}">
                <a16:creationId xmlns:a16="http://schemas.microsoft.com/office/drawing/2014/main" id="{5A38D71E-4CE4-0201-C50B-ED2DA555A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0" b="1128"/>
          <a:stretch>
            <a:fillRect/>
          </a:stretch>
        </p:blipFill>
        <p:spPr bwMode="auto">
          <a:xfrm>
            <a:off x="20" y="3476625"/>
            <a:ext cx="6094392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D67D5F2-F00D-B117-B782-F042A34C70D1}"/>
              </a:ext>
            </a:extLst>
          </p:cNvPr>
          <p:cNvSpPr/>
          <p:nvPr/>
        </p:nvSpPr>
        <p:spPr>
          <a:xfrm>
            <a:off x="9450180" y="1826553"/>
            <a:ext cx="1873250" cy="463550"/>
          </a:xfrm>
          <a:prstGeom prst="ellipse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DF1C1A0-F653-F725-4564-10A363055082}"/>
              </a:ext>
            </a:extLst>
          </p:cNvPr>
          <p:cNvCxnSpPr/>
          <p:nvPr/>
        </p:nvCxnSpPr>
        <p:spPr>
          <a:xfrm flipV="1">
            <a:off x="9140778" y="2227909"/>
            <a:ext cx="331304" cy="364434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E716EFF-FE4C-DC89-925C-61FFB7714F02}"/>
              </a:ext>
            </a:extLst>
          </p:cNvPr>
          <p:cNvSpPr txBox="1"/>
          <p:nvPr/>
        </p:nvSpPr>
        <p:spPr>
          <a:xfrm>
            <a:off x="7870904" y="2488822"/>
            <a:ext cx="298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même</a:t>
            </a:r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proba</a:t>
            </a:r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chaque</a:t>
            </a:r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valeur</a:t>
            </a:r>
            <a:endParaRPr lang="en-GB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D28DA52-7550-395E-A62B-EAF38698FE17}"/>
              </a:ext>
            </a:extLst>
          </p:cNvPr>
          <p:cNvSpPr/>
          <p:nvPr/>
        </p:nvSpPr>
        <p:spPr>
          <a:xfrm>
            <a:off x="9561443" y="4797980"/>
            <a:ext cx="313450" cy="369332"/>
          </a:xfrm>
          <a:prstGeom prst="ellipse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CFB1E4-87BE-1897-986D-8396B3A35313}"/>
              </a:ext>
            </a:extLst>
          </p:cNvPr>
          <p:cNvSpPr/>
          <p:nvPr/>
        </p:nvSpPr>
        <p:spPr>
          <a:xfrm>
            <a:off x="10144539" y="4797980"/>
            <a:ext cx="313450" cy="369332"/>
          </a:xfrm>
          <a:prstGeom prst="ellipse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504A176-AEBB-AF56-EA01-77E1ABFE32AE}"/>
              </a:ext>
            </a:extLst>
          </p:cNvPr>
          <p:cNvCxnSpPr/>
          <p:nvPr/>
        </p:nvCxnSpPr>
        <p:spPr>
          <a:xfrm flipV="1">
            <a:off x="9258023" y="5167312"/>
            <a:ext cx="331304" cy="364434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2632C9-D197-2A8D-03B9-404814408F57}"/>
              </a:ext>
            </a:extLst>
          </p:cNvPr>
          <p:cNvCxnSpPr/>
          <p:nvPr/>
        </p:nvCxnSpPr>
        <p:spPr>
          <a:xfrm flipV="1">
            <a:off x="9875262" y="5167312"/>
            <a:ext cx="331304" cy="364434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493222F-AE9E-3E48-B777-EF7B5698D00A}"/>
              </a:ext>
            </a:extLst>
          </p:cNvPr>
          <p:cNvSpPr txBox="1"/>
          <p:nvPr/>
        </p:nvSpPr>
        <p:spPr>
          <a:xfrm>
            <a:off x="8720943" y="5474358"/>
            <a:ext cx="1920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Deux occurrences</a:t>
            </a:r>
            <a:endParaRPr lang="en-GB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322558-A660-D597-3AC7-A4DD4D677362}"/>
              </a:ext>
            </a:extLst>
          </p:cNvPr>
          <p:cNvSpPr txBox="1"/>
          <p:nvPr/>
        </p:nvSpPr>
        <p:spPr>
          <a:xfrm>
            <a:off x="8757891" y="5838792"/>
            <a:ext cx="1920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Aucun</a:t>
            </a:r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4 ?</a:t>
            </a:r>
            <a:endParaRPr lang="en-GB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C9F9622-F0F5-F876-D388-CEE2CF458162}"/>
              </a:ext>
            </a:extLst>
          </p:cNvPr>
          <p:cNvSpPr/>
          <p:nvPr/>
        </p:nvSpPr>
        <p:spPr>
          <a:xfrm>
            <a:off x="6131360" y="5349529"/>
            <a:ext cx="2552632" cy="1252813"/>
          </a:xfrm>
          <a:prstGeom prst="roundRect">
            <a:avLst>
              <a:gd name="adj" fmla="val 44088"/>
            </a:avLst>
          </a:prstGeom>
          <a:gradFill>
            <a:gsLst>
              <a:gs pos="0">
                <a:schemeClr val="bg1">
                  <a:lumMod val="50000"/>
                </a:schemeClr>
              </a:gs>
              <a:gs pos="31000">
                <a:srgbClr val="C00000"/>
              </a:gs>
              <a:gs pos="74000">
                <a:srgbClr val="C00000"/>
              </a:gs>
              <a:gs pos="100000">
                <a:schemeClr val="bg1">
                  <a:lumMod val="50000"/>
                </a:schemeClr>
              </a:gs>
            </a:gsLst>
            <a:lin ang="5400000" scaled="1"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Non-equitable ?</a:t>
            </a:r>
            <a:endParaRPr lang="en-GB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0234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7" grpId="0"/>
      <p:bldP spid="8" grpId="0" animBg="1"/>
      <p:bldP spid="9" grpId="0" animBg="1"/>
      <p:bldP spid="12" grpId="0"/>
      <p:bldP spid="13" grpId="0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40719F-DDE2-4F45-A056-F254D5639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3136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696F26-39A8-DBE8-A2B8-7F732A6A0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Distribution uniforme</a:t>
            </a:r>
            <a:endParaRPr lang="en-GB">
              <a:solidFill>
                <a:srgbClr val="FFFFFF"/>
              </a:solidFill>
            </a:endParaRPr>
          </a:p>
        </p:txBody>
      </p:sp>
      <p:pic>
        <p:nvPicPr>
          <p:cNvPr id="4" name="Picture 2" descr="Discrete Uniform Distribution | CFA Level 1 - AnalystPrep">
            <a:extLst>
              <a:ext uri="{FF2B5EF4-FFF2-40B4-BE49-F238E27FC236}">
                <a16:creationId xmlns:a16="http://schemas.microsoft.com/office/drawing/2014/main" id="{221343AF-C99C-8AAB-393A-CAB9F1F5B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26" r="2" b="2"/>
          <a:stretch>
            <a:fillRect/>
          </a:stretch>
        </p:blipFill>
        <p:spPr bwMode="auto">
          <a:xfrm>
            <a:off x="327547" y="321733"/>
            <a:ext cx="7058306" cy="410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44548-53AA-1B5D-E471-915939152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319" y="917725"/>
            <a:ext cx="3424739" cy="4852362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rgbClr val="FFFFFF"/>
                </a:solidFill>
              </a:rPr>
              <a:t>Equiprobabilité</a:t>
            </a:r>
            <a:r>
              <a:rPr lang="en-US" dirty="0">
                <a:solidFill>
                  <a:srgbClr val="FFFFFF"/>
                </a:solidFill>
              </a:rPr>
              <a:t> (par jet)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 </a:t>
            </a:r>
            <a:endParaRPr lang="en-GB" dirty="0">
              <a:solidFill>
                <a:srgbClr val="FFFFFF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Indépendence</a:t>
            </a:r>
            <a:r>
              <a:rPr lang="en-GB" dirty="0">
                <a:solidFill>
                  <a:srgbClr val="FFFFFF"/>
                </a:solidFill>
              </a:rPr>
              <a:t> (entre jets)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dirty="0">
              <a:solidFill>
                <a:srgbClr val="FFFFFF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Même</a:t>
            </a:r>
            <a:r>
              <a:rPr lang="en-GB" dirty="0">
                <a:solidFill>
                  <a:srgbClr val="FFFFFF"/>
                </a:solidFill>
              </a:rPr>
              <a:t> distribution pour un sous-ensemble et pour </a:t>
            </a:r>
            <a:r>
              <a:rPr lang="en-GB" dirty="0" err="1">
                <a:solidFill>
                  <a:srgbClr val="FFFFFF"/>
                </a:solidFill>
              </a:rPr>
              <a:t>l’ensemble</a:t>
            </a:r>
            <a:endParaRPr lang="en-GB" dirty="0">
              <a:solidFill>
                <a:srgbClr val="FFFFFF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74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5C4D6-B14F-9EB1-5306-1C1D96434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7850B-FEA5-8FAB-E122-6F2FE5E21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Intermezzo : </a:t>
            </a:r>
            <a:br>
              <a:rPr lang="en-US" dirty="0"/>
            </a:br>
            <a:r>
              <a:rPr lang="en-US" dirty="0" err="1"/>
              <a:t>probabilité</a:t>
            </a:r>
            <a:r>
              <a:rPr lang="en-US" dirty="0"/>
              <a:t> </a:t>
            </a:r>
            <a:r>
              <a:rPr lang="en-US" dirty="0" err="1"/>
              <a:t>conditionnelle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E5D3E-8171-7943-3A7F-E420D6062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85C4A43-6537-FB97-FDF1-363FE7908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988" y="4631402"/>
            <a:ext cx="1547812" cy="1906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294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B961A-3505-640D-CF66-1B1FBA044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 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1B13E-D83A-2004-0B7C-1EB44A829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dirty="0"/>
              <a:t> Je </a:t>
            </a:r>
            <a:r>
              <a:rPr lang="en-US" dirty="0" err="1"/>
              <a:t>peux</a:t>
            </a:r>
            <a:r>
              <a:rPr lang="en-US" dirty="0"/>
              <a:t> </a:t>
            </a:r>
            <a:r>
              <a:rPr lang="en-US" dirty="0" err="1"/>
              <a:t>calculer</a:t>
            </a:r>
            <a:r>
              <a:rPr lang="en-US" dirty="0"/>
              <a:t> la </a:t>
            </a:r>
            <a:r>
              <a:rPr lang="en-US" dirty="0" err="1"/>
              <a:t>probabilité</a:t>
            </a:r>
            <a:r>
              <a:rPr lang="en-US" dirty="0"/>
              <a:t> </a:t>
            </a:r>
            <a:r>
              <a:rPr lang="en-US" dirty="0" err="1"/>
              <a:t>basée</a:t>
            </a:r>
            <a:r>
              <a:rPr lang="en-US" dirty="0"/>
              <a:t> sur 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GB" dirty="0"/>
              <a:t>La distance à </a:t>
            </a:r>
            <a:r>
              <a:rPr lang="en-GB" dirty="0" err="1"/>
              <a:t>parcourir</a:t>
            </a:r>
            <a:endParaRPr lang="en-GB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 La circulation sur la route prise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 Des </a:t>
            </a:r>
            <a:r>
              <a:rPr lang="en-GB" dirty="0" err="1"/>
              <a:t>chantiers</a:t>
            </a:r>
            <a:endParaRPr lang="en-GB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 Si le bus arrive à </a:t>
            </a:r>
            <a:r>
              <a:rPr lang="en-GB" dirty="0" err="1"/>
              <a:t>l’heure</a:t>
            </a:r>
            <a:r>
              <a:rPr lang="en-GB" dirty="0"/>
              <a:t> ?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…. </a:t>
            </a:r>
            <a:r>
              <a:rPr lang="en-GB" dirty="0" err="1"/>
              <a:t>Autre</a:t>
            </a:r>
            <a:r>
              <a:rPr lang="en-GB" dirty="0"/>
              <a:t>, </a:t>
            </a:r>
            <a:r>
              <a:rPr lang="en-GB" dirty="0" err="1"/>
              <a:t>notamment</a:t>
            </a:r>
            <a:r>
              <a:rPr lang="en-GB" dirty="0"/>
              <a:t>… 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La </a:t>
            </a:r>
            <a:r>
              <a:rPr lang="en-GB" dirty="0" err="1"/>
              <a:t>probabilité</a:t>
            </a:r>
            <a:r>
              <a:rPr lang="en-GB" dirty="0"/>
              <a:t> change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fonction</a:t>
            </a:r>
            <a:r>
              <a:rPr lang="en-GB" dirty="0"/>
              <a:t> de </a:t>
            </a:r>
            <a:r>
              <a:rPr lang="en-GB" dirty="0" err="1"/>
              <a:t>certaines</a:t>
            </a:r>
            <a:r>
              <a:rPr lang="en-GB" dirty="0"/>
              <a:t> variables  </a:t>
            </a:r>
            <a:r>
              <a:rPr lang="en-GB" dirty="0">
                <a:sym typeface="Wingdings" panose="05000000000000000000" pitchFamily="2" charset="2"/>
              </a:rPr>
              <a:t> conditions</a:t>
            </a: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CFEBAED-5D7F-64B7-636B-F54828BB6199}"/>
              </a:ext>
            </a:extLst>
          </p:cNvPr>
          <p:cNvSpPr/>
          <p:nvPr/>
        </p:nvSpPr>
        <p:spPr>
          <a:xfrm>
            <a:off x="1916038" y="1900683"/>
            <a:ext cx="7936251" cy="9187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2400" dirty="0" err="1">
                <a:solidFill>
                  <a:schemeClr val="tx1"/>
                </a:solidFill>
              </a:rPr>
              <a:t>J’ai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cours</a:t>
            </a:r>
            <a:r>
              <a:rPr lang="en-US" sz="2400" dirty="0">
                <a:solidFill>
                  <a:schemeClr val="tx1"/>
                </a:solidFill>
              </a:rPr>
              <a:t> à 8h. </a:t>
            </a:r>
            <a:r>
              <a:rPr lang="en-US" sz="2400" dirty="0" err="1">
                <a:solidFill>
                  <a:schemeClr val="tx1"/>
                </a:solidFill>
              </a:rPr>
              <a:t>J’ai</a:t>
            </a:r>
            <a:r>
              <a:rPr lang="en-US" sz="2400" dirty="0">
                <a:solidFill>
                  <a:schemeClr val="tx1"/>
                </a:solidFill>
              </a:rPr>
              <a:t> un bus à 7h. Quelle </a:t>
            </a:r>
            <a:r>
              <a:rPr lang="en-US" sz="2400" dirty="0" err="1">
                <a:solidFill>
                  <a:schemeClr val="tx1"/>
                </a:solidFill>
              </a:rPr>
              <a:t>est</a:t>
            </a:r>
            <a:r>
              <a:rPr lang="en-US" sz="2400" dirty="0">
                <a:solidFill>
                  <a:schemeClr val="tx1"/>
                </a:solidFill>
              </a:rPr>
              <a:t> ma </a:t>
            </a:r>
            <a:r>
              <a:rPr lang="en-US" sz="2400" dirty="0" err="1">
                <a:solidFill>
                  <a:schemeClr val="tx1"/>
                </a:solidFill>
              </a:rPr>
              <a:t>probabilité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d’arriver</a:t>
            </a:r>
            <a:r>
              <a:rPr lang="en-US" sz="2400" dirty="0">
                <a:solidFill>
                  <a:schemeClr val="tx1"/>
                </a:solidFill>
              </a:rPr>
              <a:t> à </a:t>
            </a:r>
            <a:r>
              <a:rPr lang="en-US" sz="2400" dirty="0" err="1">
                <a:solidFill>
                  <a:schemeClr val="tx1"/>
                </a:solidFill>
              </a:rPr>
              <a:t>l’heure</a:t>
            </a:r>
            <a:r>
              <a:rPr lang="en-US" sz="2400" dirty="0">
                <a:solidFill>
                  <a:schemeClr val="tx1"/>
                </a:solidFill>
              </a:rPr>
              <a:t> ?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CD07B59-D0E6-A39C-6F00-072D2CB51669}"/>
              </a:ext>
            </a:extLst>
          </p:cNvPr>
          <p:cNvSpPr/>
          <p:nvPr/>
        </p:nvSpPr>
        <p:spPr>
          <a:xfrm>
            <a:off x="1916038" y="5501133"/>
            <a:ext cx="7936251" cy="9187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2400" dirty="0" err="1">
                <a:solidFill>
                  <a:schemeClr val="tx1"/>
                </a:solidFill>
              </a:rPr>
              <a:t>J’ai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cours</a:t>
            </a:r>
            <a:r>
              <a:rPr lang="en-US" sz="2400" dirty="0">
                <a:solidFill>
                  <a:schemeClr val="tx1"/>
                </a:solidFill>
              </a:rPr>
              <a:t> à 8h. </a:t>
            </a:r>
            <a:r>
              <a:rPr lang="en-US" sz="2400" dirty="0" err="1">
                <a:solidFill>
                  <a:schemeClr val="tx1"/>
                </a:solidFill>
              </a:rPr>
              <a:t>J’ai</a:t>
            </a:r>
            <a:r>
              <a:rPr lang="en-US" sz="2400" dirty="0">
                <a:solidFill>
                  <a:schemeClr val="tx1"/>
                </a:solidFill>
              </a:rPr>
              <a:t> un bus à 7h. Quelle </a:t>
            </a:r>
            <a:r>
              <a:rPr lang="en-US" sz="2400" dirty="0" err="1">
                <a:solidFill>
                  <a:schemeClr val="tx1"/>
                </a:solidFill>
              </a:rPr>
              <a:t>est</a:t>
            </a:r>
            <a:r>
              <a:rPr lang="en-US" sz="2400" dirty="0">
                <a:solidFill>
                  <a:schemeClr val="tx1"/>
                </a:solidFill>
              </a:rPr>
              <a:t> ma </a:t>
            </a:r>
            <a:r>
              <a:rPr lang="en-US" sz="2400" dirty="0" err="1">
                <a:solidFill>
                  <a:schemeClr val="tx1"/>
                </a:solidFill>
              </a:rPr>
              <a:t>probabilité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d’arriver</a:t>
            </a:r>
            <a:r>
              <a:rPr lang="en-US" sz="2400" dirty="0">
                <a:solidFill>
                  <a:schemeClr val="tx1"/>
                </a:solidFill>
              </a:rPr>
              <a:t> à </a:t>
            </a:r>
            <a:r>
              <a:rPr lang="en-US" sz="2400" dirty="0" err="1">
                <a:solidFill>
                  <a:schemeClr val="tx1"/>
                </a:solidFill>
              </a:rPr>
              <a:t>l’heure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si</a:t>
            </a:r>
            <a:r>
              <a:rPr lang="en-US" sz="2400" dirty="0">
                <a:solidFill>
                  <a:schemeClr val="tx1"/>
                </a:solidFill>
              </a:rPr>
              <a:t> je suis à </a:t>
            </a:r>
            <a:r>
              <a:rPr lang="en-US" sz="2400" dirty="0" err="1">
                <a:solidFill>
                  <a:schemeClr val="tx1"/>
                </a:solidFill>
              </a:rPr>
              <a:t>l’arrêt</a:t>
            </a:r>
            <a:r>
              <a:rPr lang="en-US" sz="2400" dirty="0">
                <a:solidFill>
                  <a:schemeClr val="tx1"/>
                </a:solidFill>
              </a:rPr>
              <a:t> à 6h 50 ?</a:t>
            </a:r>
            <a:endParaRPr lang="en-GB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939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6DE7C-AEEC-1C47-0884-E712E64C4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Probabilité</a:t>
            </a:r>
            <a:r>
              <a:rPr lang="en-US" dirty="0"/>
              <a:t> </a:t>
            </a:r>
            <a:r>
              <a:rPr lang="en-US" dirty="0" err="1"/>
              <a:t>conditionnelle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CDE097-5769-F1C5-630A-14D01E8C6F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08279" y="3533653"/>
                <a:ext cx="5408421" cy="6827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C0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𝑏𝑙𝑒𝑢𝑒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𝑏𝑎𝑙𝑙𝑒𝑠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𝑏𝑙𝑒𝑢𝑒𝑠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𝑏𝑎𝑙𝑙𝑒𝑠</m:t>
                        </m:r>
                      </m:den>
                    </m:f>
                    <m:r>
                      <a:rPr lang="en-US" sz="2400" b="0" i="1" smtClean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US" sz="2400" b="0" i="1" smtClean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CDE097-5769-F1C5-630A-14D01E8C6F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08279" y="3533653"/>
                <a:ext cx="5408421" cy="6827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08EAEC-5B0D-3D0E-FAC5-881D83CD9369}"/>
                  </a:ext>
                </a:extLst>
              </p:cNvPr>
              <p:cNvSpPr txBox="1"/>
              <p:nvPr/>
            </p:nvSpPr>
            <p:spPr>
              <a:xfrm>
                <a:off x="7173215" y="3451522"/>
                <a:ext cx="4910836" cy="1092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0" i="0" dirty="0">
                    <a:latin typeface="Cambria Math" panose="02040503050406030204" pitchFamily="18" charset="0"/>
                  </a:rPr>
                  <a:t>X : couleur de la </a:t>
                </a:r>
                <a:r>
                  <a:rPr lang="en-US" sz="2000" b="0" i="0" dirty="0" err="1">
                    <a:latin typeface="Cambria Math" panose="02040503050406030204" pitchFamily="18" charset="0"/>
                  </a:rPr>
                  <a:t>balle</a:t>
                </a:r>
                <a:r>
                  <a:rPr lang="en-US" sz="2000" b="0" i="0" dirty="0">
                    <a:latin typeface="Cambria Math" panose="02040503050406030204" pitchFamily="18" charset="0"/>
                  </a:rPr>
                  <a:t> </a:t>
                </a:r>
                <a:r>
                  <a:rPr lang="en-US" sz="2000" b="0" i="0" dirty="0" err="1">
                    <a:latin typeface="Cambria Math" panose="02040503050406030204" pitchFamily="18" charset="0"/>
                  </a:rPr>
                  <a:t>tirée</a:t>
                </a:r>
                <a:endParaRPr lang="en-US" sz="2000" b="0" i="0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𝑏𝑙𝑒𝑢𝑒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000" dirty="0"/>
                  <a:t> : </a:t>
                </a:r>
                <a:r>
                  <a:rPr lang="en-GB" sz="2000" dirty="0" err="1"/>
                  <a:t>probabilité</a:t>
                </a:r>
                <a:r>
                  <a:rPr lang="en-GB" sz="2000" dirty="0"/>
                  <a:t> </a:t>
                </a:r>
                <a:r>
                  <a:rPr lang="en-GB" sz="2000" dirty="0" err="1"/>
                  <a:t>que</a:t>
                </a:r>
                <a:r>
                  <a:rPr lang="en-GB" sz="2000" dirty="0"/>
                  <a:t> la variable X </a:t>
                </a:r>
              </a:p>
              <a:p>
                <a:r>
                  <a:rPr lang="en-GB" sz="2000" dirty="0"/>
                  <a:t>			   </a:t>
                </a:r>
                <a:r>
                  <a:rPr lang="en-GB" sz="2000" dirty="0" err="1"/>
                  <a:t>prenne</a:t>
                </a:r>
                <a:r>
                  <a:rPr lang="en-GB" sz="2000" dirty="0"/>
                  <a:t> la </a:t>
                </a:r>
                <a:r>
                  <a:rPr lang="en-GB" sz="2000" dirty="0" err="1"/>
                  <a:t>valeur</a:t>
                </a:r>
                <a:r>
                  <a:rPr lang="en-GB" sz="2000" dirty="0"/>
                  <a:t> x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08EAEC-5B0D-3D0E-FAC5-881D83CD9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3215" y="3451522"/>
                <a:ext cx="4910836" cy="1092607"/>
              </a:xfrm>
              <a:prstGeom prst="rect">
                <a:avLst/>
              </a:prstGeom>
              <a:blipFill>
                <a:blip r:embed="rId3"/>
                <a:stretch>
                  <a:fillRect l="-1366" t="-2793" r="-2360" b="-94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56CDE8C-658E-A8F8-836B-54622B00DBC0}"/>
              </a:ext>
            </a:extLst>
          </p:cNvPr>
          <p:cNvSpPr/>
          <p:nvPr/>
        </p:nvSpPr>
        <p:spPr>
          <a:xfrm>
            <a:off x="1509638" y="1941457"/>
            <a:ext cx="9386962" cy="9187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2400" dirty="0">
                <a:solidFill>
                  <a:schemeClr val="tx1"/>
                </a:solidFill>
              </a:rPr>
              <a:t>Dans un sac il y a 6 </a:t>
            </a:r>
            <a:r>
              <a:rPr lang="en-US" sz="2400" dirty="0" err="1">
                <a:solidFill>
                  <a:schemeClr val="tx1"/>
                </a:solidFill>
              </a:rPr>
              <a:t>balles</a:t>
            </a:r>
            <a:r>
              <a:rPr lang="en-US" sz="2400" dirty="0">
                <a:solidFill>
                  <a:schemeClr val="tx1"/>
                </a:solidFill>
              </a:rPr>
              <a:t> rouges et 6 </a:t>
            </a:r>
            <a:r>
              <a:rPr lang="en-US" sz="2400" dirty="0" err="1">
                <a:solidFill>
                  <a:schemeClr val="tx1"/>
                </a:solidFill>
              </a:rPr>
              <a:t>bleues</a:t>
            </a:r>
            <a:r>
              <a:rPr lang="en-US" sz="2400" dirty="0">
                <a:solidFill>
                  <a:schemeClr val="tx1"/>
                </a:solidFill>
              </a:rPr>
              <a:t>. Je tire </a:t>
            </a:r>
            <a:r>
              <a:rPr lang="en-US" sz="2400" dirty="0" err="1">
                <a:solidFill>
                  <a:schemeClr val="tx1"/>
                </a:solidFill>
              </a:rPr>
              <a:t>une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balle</a:t>
            </a:r>
            <a:r>
              <a:rPr lang="en-US" sz="2400" dirty="0">
                <a:solidFill>
                  <a:schemeClr val="tx1"/>
                </a:solidFill>
              </a:rPr>
              <a:t> au </a:t>
            </a:r>
            <a:r>
              <a:rPr lang="en-US" sz="2400" dirty="0" err="1">
                <a:solidFill>
                  <a:schemeClr val="tx1"/>
                </a:solidFill>
              </a:rPr>
              <a:t>hasard</a:t>
            </a:r>
            <a:r>
              <a:rPr lang="en-US" sz="2400" dirty="0">
                <a:solidFill>
                  <a:schemeClr val="tx1"/>
                </a:solidFill>
              </a:rPr>
              <a:t>. Quelle </a:t>
            </a:r>
            <a:r>
              <a:rPr lang="en-US" sz="2400" dirty="0" err="1">
                <a:solidFill>
                  <a:schemeClr val="tx1"/>
                </a:solidFill>
              </a:rPr>
              <a:t>proba</a:t>
            </a:r>
            <a:r>
              <a:rPr lang="en-US" sz="2400" dirty="0">
                <a:solidFill>
                  <a:schemeClr val="tx1"/>
                </a:solidFill>
              </a:rPr>
              <a:t> de </a:t>
            </a:r>
            <a:r>
              <a:rPr lang="en-US" sz="2400" dirty="0" err="1">
                <a:solidFill>
                  <a:schemeClr val="tx1"/>
                </a:solidFill>
              </a:rPr>
              <a:t>tirer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une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balle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bleue</a:t>
            </a:r>
            <a:r>
              <a:rPr lang="en-US" sz="2400" dirty="0">
                <a:solidFill>
                  <a:schemeClr val="tx1"/>
                </a:solidFill>
              </a:rPr>
              <a:t> ?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B363A-9748-F3C1-AA97-C4F84D7B6E0C}"/>
              </a:ext>
            </a:extLst>
          </p:cNvPr>
          <p:cNvSpPr txBox="1"/>
          <p:nvPr/>
        </p:nvSpPr>
        <p:spPr>
          <a:xfrm>
            <a:off x="7799833" y="2981226"/>
            <a:ext cx="3340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cap="small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Terminologie</a:t>
            </a:r>
            <a:r>
              <a:rPr lang="en-US" sz="2400" cap="small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/notation</a:t>
            </a:r>
            <a:endParaRPr lang="en-GB" sz="2400" cap="small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B387C2-D931-D1D2-9459-034D4DD7A005}"/>
              </a:ext>
            </a:extLst>
          </p:cNvPr>
          <p:cNvSpPr/>
          <p:nvPr/>
        </p:nvSpPr>
        <p:spPr>
          <a:xfrm>
            <a:off x="1509638" y="4746519"/>
            <a:ext cx="9386962" cy="9187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2400" dirty="0" err="1">
                <a:solidFill>
                  <a:schemeClr val="tx1"/>
                </a:solidFill>
              </a:rPr>
              <a:t>Même</a:t>
            </a:r>
            <a:r>
              <a:rPr lang="en-US" sz="2400" dirty="0">
                <a:solidFill>
                  <a:schemeClr val="tx1"/>
                </a:solidFill>
              </a:rPr>
              <a:t> sac. Je tire deux </a:t>
            </a:r>
            <a:r>
              <a:rPr lang="en-US" sz="2400" dirty="0" err="1">
                <a:solidFill>
                  <a:schemeClr val="tx1"/>
                </a:solidFill>
              </a:rPr>
              <a:t>balles</a:t>
            </a:r>
            <a:r>
              <a:rPr lang="en-US" sz="2400" dirty="0">
                <a:solidFill>
                  <a:schemeClr val="tx1"/>
                </a:solidFill>
              </a:rPr>
              <a:t> au </a:t>
            </a:r>
            <a:r>
              <a:rPr lang="en-US" sz="2400" dirty="0" err="1">
                <a:solidFill>
                  <a:schemeClr val="tx1"/>
                </a:solidFill>
              </a:rPr>
              <a:t>hasard</a:t>
            </a:r>
            <a:r>
              <a:rPr lang="en-US" sz="2400" dirty="0">
                <a:solidFill>
                  <a:schemeClr val="tx1"/>
                </a:solidFill>
              </a:rPr>
              <a:t>, sans </a:t>
            </a:r>
            <a:r>
              <a:rPr lang="en-US" sz="2400" dirty="0" err="1">
                <a:solidFill>
                  <a:schemeClr val="tx1"/>
                </a:solidFill>
              </a:rPr>
              <a:t>remplacer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</a:p>
          <a:p>
            <a:pPr algn="ctr">
              <a:spcAft>
                <a:spcPts val="600"/>
              </a:spcAft>
            </a:pPr>
            <a:r>
              <a:rPr lang="en-US" sz="2400" dirty="0">
                <a:solidFill>
                  <a:schemeClr val="tx1"/>
                </a:solidFill>
              </a:rPr>
              <a:t>Quelle </a:t>
            </a:r>
            <a:r>
              <a:rPr lang="en-US" sz="2400" dirty="0" err="1">
                <a:solidFill>
                  <a:schemeClr val="tx1"/>
                </a:solidFill>
              </a:rPr>
              <a:t>proba</a:t>
            </a:r>
            <a:r>
              <a:rPr lang="en-US" sz="2400" dirty="0">
                <a:solidFill>
                  <a:schemeClr val="tx1"/>
                </a:solidFill>
              </a:rPr>
              <a:t> de </a:t>
            </a:r>
            <a:r>
              <a:rPr lang="en-US" sz="2400" dirty="0" err="1">
                <a:solidFill>
                  <a:schemeClr val="tx1"/>
                </a:solidFill>
              </a:rPr>
              <a:t>tirer</a:t>
            </a:r>
            <a:r>
              <a:rPr lang="en-US" sz="2400" dirty="0">
                <a:solidFill>
                  <a:schemeClr val="tx1"/>
                </a:solidFill>
              </a:rPr>
              <a:t> deux </a:t>
            </a:r>
            <a:r>
              <a:rPr lang="en-US" sz="2400" dirty="0" err="1">
                <a:solidFill>
                  <a:schemeClr val="tx1"/>
                </a:solidFill>
              </a:rPr>
              <a:t>balles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bleues</a:t>
            </a:r>
            <a:r>
              <a:rPr lang="en-US" sz="2400" dirty="0">
                <a:solidFill>
                  <a:schemeClr val="tx1"/>
                </a:solidFill>
              </a:rPr>
              <a:t> ?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E0182A6-CC5A-C68E-411A-F2E18972F4FE}"/>
              </a:ext>
            </a:extLst>
          </p:cNvPr>
          <p:cNvSpPr/>
          <p:nvPr/>
        </p:nvSpPr>
        <p:spPr>
          <a:xfrm>
            <a:off x="7607300" y="4771919"/>
            <a:ext cx="2249280" cy="463550"/>
          </a:xfrm>
          <a:prstGeom prst="ellipse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1A83EA-18AA-55FA-8068-4E5060A4242A}"/>
              </a:ext>
            </a:extLst>
          </p:cNvPr>
          <p:cNvCxnSpPr>
            <a:cxnSpLocks/>
          </p:cNvCxnSpPr>
          <p:nvPr/>
        </p:nvCxnSpPr>
        <p:spPr>
          <a:xfrm flipV="1">
            <a:off x="7098136" y="5145957"/>
            <a:ext cx="660400" cy="784331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0068E52-7B50-1A81-5027-9B3519C3BF82}"/>
              </a:ext>
            </a:extLst>
          </p:cNvPr>
          <p:cNvSpPr txBox="1"/>
          <p:nvPr/>
        </p:nvSpPr>
        <p:spPr>
          <a:xfrm>
            <a:off x="4697836" y="5930288"/>
            <a:ext cx="5461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Premier </a:t>
            </a:r>
            <a:r>
              <a:rPr lang="en-US" sz="2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tir</a:t>
            </a: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influence la </a:t>
            </a:r>
            <a:r>
              <a:rPr lang="en-US" sz="2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proba</a:t>
            </a: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du deuxième !</a:t>
            </a:r>
            <a:endParaRPr lang="en-GB" sz="2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0005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  <p:bldP spid="7" grpId="0" animBg="1"/>
      <p:bldP spid="9" grpId="0" animBg="1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3E1E2-7076-5BF1-B0ED-4E485ACE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BE9A3-C423-574A-A69E-B6B32AB4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Probabilité</a:t>
            </a:r>
            <a:r>
              <a:rPr lang="en-US" dirty="0"/>
              <a:t> </a:t>
            </a:r>
            <a:r>
              <a:rPr lang="en-US" dirty="0" err="1"/>
              <a:t>conditionnelle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720002-F095-6CA7-F747-D200E65C6C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49629" y="4017428"/>
                <a:ext cx="3090671" cy="68276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C0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𝑏𝑙𝑒𝑢𝑒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720002-F095-6CA7-F747-D200E65C6C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49629" y="4017428"/>
                <a:ext cx="3090671" cy="6827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FE8B31-DEE7-4101-2867-E366246ECD3C}"/>
                  </a:ext>
                </a:extLst>
              </p:cNvPr>
              <p:cNvSpPr txBox="1"/>
              <p:nvPr/>
            </p:nvSpPr>
            <p:spPr>
              <a:xfrm>
                <a:off x="1543939" y="5473622"/>
                <a:ext cx="4910836" cy="1092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b="0" i="0" dirty="0">
                    <a:latin typeface="Cambria Math" panose="02040503050406030204" pitchFamily="18" charset="0"/>
                  </a:rPr>
                  <a:t>: couleur de la </a:t>
                </a:r>
                <a:r>
                  <a:rPr lang="en-US" sz="2000" b="0" i="0" dirty="0" err="1">
                    <a:latin typeface="Cambria Math" panose="02040503050406030204" pitchFamily="18" charset="0"/>
                  </a:rPr>
                  <a:t>i-ème</a:t>
                </a:r>
                <a:r>
                  <a:rPr lang="en-US" sz="2000" b="0" i="0" dirty="0">
                    <a:latin typeface="Cambria Math" panose="02040503050406030204" pitchFamily="18" charset="0"/>
                  </a:rPr>
                  <a:t> </a:t>
                </a:r>
                <a:r>
                  <a:rPr lang="en-US" sz="2000" b="0" i="0" dirty="0" err="1">
                    <a:latin typeface="Cambria Math" panose="02040503050406030204" pitchFamily="18" charset="0"/>
                  </a:rPr>
                  <a:t>balle</a:t>
                </a:r>
                <a:r>
                  <a:rPr lang="en-US" sz="2000" b="0" i="0" dirty="0">
                    <a:latin typeface="Cambria Math" panose="02040503050406030204" pitchFamily="18" charset="0"/>
                  </a:rPr>
                  <a:t> </a:t>
                </a:r>
                <a:r>
                  <a:rPr lang="en-US" sz="2000" b="0" i="0" dirty="0" err="1">
                    <a:latin typeface="Cambria Math" panose="02040503050406030204" pitchFamily="18" charset="0"/>
                  </a:rPr>
                  <a:t>tirée</a:t>
                </a:r>
                <a:endParaRPr lang="en-US" sz="2000" b="0" i="0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𝑏𝑙𝑒𝑢𝑒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000" dirty="0"/>
                  <a:t> : Proba </a:t>
                </a:r>
                <a:r>
                  <a:rPr lang="en-GB" sz="2000" dirty="0" err="1"/>
                  <a:t>que</a:t>
                </a:r>
                <a:r>
                  <a:rPr lang="en-GB" sz="2000" dirty="0"/>
                  <a:t> la </a:t>
                </a:r>
                <a:r>
                  <a:rPr lang="en-GB" sz="2000" dirty="0" err="1"/>
                  <a:t>i-ème</a:t>
                </a:r>
                <a:r>
                  <a:rPr lang="en-GB" sz="2000" dirty="0"/>
                  <a:t> </a:t>
                </a:r>
                <a:r>
                  <a:rPr lang="en-GB" sz="2000" dirty="0" err="1"/>
                  <a:t>balle</a:t>
                </a:r>
                <a:endParaRPr lang="en-GB" sz="2000" dirty="0"/>
              </a:p>
              <a:p>
                <a:r>
                  <a:rPr lang="en-GB" sz="2000" dirty="0"/>
                  <a:t>				</a:t>
                </a:r>
                <a:r>
                  <a:rPr lang="en-GB" sz="2000" dirty="0" err="1"/>
                  <a:t>tirée</a:t>
                </a:r>
                <a:r>
                  <a:rPr lang="en-GB" sz="2000" dirty="0"/>
                  <a:t> </a:t>
                </a:r>
                <a:r>
                  <a:rPr lang="en-GB" sz="2000" dirty="0" err="1"/>
                  <a:t>soit</a:t>
                </a:r>
                <a:r>
                  <a:rPr lang="en-GB" sz="2000" dirty="0"/>
                  <a:t> </a:t>
                </a:r>
                <a:r>
                  <a:rPr lang="en-GB" sz="2000" dirty="0" err="1"/>
                  <a:t>bleue</a:t>
                </a:r>
                <a:endParaRPr lang="en-GB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FE8B31-DEE7-4101-2867-E366246EC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939" y="5473622"/>
                <a:ext cx="4910836" cy="1092607"/>
              </a:xfrm>
              <a:prstGeom prst="rect">
                <a:avLst/>
              </a:prstGeom>
              <a:blipFill>
                <a:blip r:embed="rId3"/>
                <a:stretch>
                  <a:fillRect t="-3352" b="-94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FE9D31F-B3DB-66BE-7735-8F4AC9F8AE6F}"/>
              </a:ext>
            </a:extLst>
          </p:cNvPr>
          <p:cNvSpPr txBox="1"/>
          <p:nvPr/>
        </p:nvSpPr>
        <p:spPr>
          <a:xfrm>
            <a:off x="4413250" y="5011957"/>
            <a:ext cx="3340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cap="small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Terminologie</a:t>
            </a:r>
            <a:r>
              <a:rPr lang="en-US" sz="2400" cap="small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/notation</a:t>
            </a:r>
            <a:endParaRPr lang="en-GB" sz="2400" cap="small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FB6219-E19B-5C27-DE72-B215169CC867}"/>
              </a:ext>
            </a:extLst>
          </p:cNvPr>
          <p:cNvSpPr/>
          <p:nvPr/>
        </p:nvSpPr>
        <p:spPr>
          <a:xfrm>
            <a:off x="1402519" y="1899309"/>
            <a:ext cx="9386962" cy="9187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2400" dirty="0" err="1">
                <a:solidFill>
                  <a:schemeClr val="tx1"/>
                </a:solidFill>
              </a:rPr>
              <a:t>Même</a:t>
            </a:r>
            <a:r>
              <a:rPr lang="en-US" sz="2400" dirty="0">
                <a:solidFill>
                  <a:schemeClr val="tx1"/>
                </a:solidFill>
              </a:rPr>
              <a:t> sac. Je tire deux </a:t>
            </a:r>
            <a:r>
              <a:rPr lang="en-US" sz="2400" dirty="0" err="1">
                <a:solidFill>
                  <a:schemeClr val="tx1"/>
                </a:solidFill>
              </a:rPr>
              <a:t>balles</a:t>
            </a:r>
            <a:r>
              <a:rPr lang="en-US" sz="2400" dirty="0">
                <a:solidFill>
                  <a:schemeClr val="tx1"/>
                </a:solidFill>
              </a:rPr>
              <a:t> au </a:t>
            </a:r>
            <a:r>
              <a:rPr lang="en-US" sz="2400" dirty="0" err="1">
                <a:solidFill>
                  <a:schemeClr val="tx1"/>
                </a:solidFill>
              </a:rPr>
              <a:t>hasard</a:t>
            </a:r>
            <a:r>
              <a:rPr lang="en-US" sz="2400" dirty="0">
                <a:solidFill>
                  <a:schemeClr val="tx1"/>
                </a:solidFill>
              </a:rPr>
              <a:t>, sans </a:t>
            </a:r>
            <a:r>
              <a:rPr lang="en-US" sz="2400" dirty="0" err="1">
                <a:solidFill>
                  <a:schemeClr val="tx1"/>
                </a:solidFill>
              </a:rPr>
              <a:t>remplacer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</a:p>
          <a:p>
            <a:pPr algn="ctr">
              <a:spcAft>
                <a:spcPts val="600"/>
              </a:spcAft>
            </a:pPr>
            <a:r>
              <a:rPr lang="en-US" sz="2400" dirty="0">
                <a:solidFill>
                  <a:schemeClr val="tx1"/>
                </a:solidFill>
              </a:rPr>
              <a:t>Quelle </a:t>
            </a:r>
            <a:r>
              <a:rPr lang="en-US" sz="2400" dirty="0" err="1">
                <a:solidFill>
                  <a:schemeClr val="tx1"/>
                </a:solidFill>
              </a:rPr>
              <a:t>proba</a:t>
            </a:r>
            <a:r>
              <a:rPr lang="en-US" sz="2400" dirty="0">
                <a:solidFill>
                  <a:schemeClr val="tx1"/>
                </a:solidFill>
              </a:rPr>
              <a:t> de </a:t>
            </a:r>
            <a:r>
              <a:rPr lang="en-US" sz="2400" dirty="0" err="1">
                <a:solidFill>
                  <a:schemeClr val="tx1"/>
                </a:solidFill>
              </a:rPr>
              <a:t>tirer</a:t>
            </a:r>
            <a:r>
              <a:rPr lang="en-US" sz="2400" dirty="0">
                <a:solidFill>
                  <a:schemeClr val="tx1"/>
                </a:solidFill>
              </a:rPr>
              <a:t> deux </a:t>
            </a:r>
            <a:r>
              <a:rPr lang="en-US" sz="2400" dirty="0" err="1">
                <a:solidFill>
                  <a:schemeClr val="tx1"/>
                </a:solidFill>
              </a:rPr>
              <a:t>balles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bleues</a:t>
            </a:r>
            <a:r>
              <a:rPr lang="en-US" sz="2400" dirty="0">
                <a:solidFill>
                  <a:schemeClr val="tx1"/>
                </a:solidFill>
              </a:rPr>
              <a:t> ?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5DA554-3F61-63DB-6D78-075F529A53A2}"/>
              </a:ext>
            </a:extLst>
          </p:cNvPr>
          <p:cNvSpPr txBox="1"/>
          <p:nvPr/>
        </p:nvSpPr>
        <p:spPr>
          <a:xfrm>
            <a:off x="2640457" y="2937260"/>
            <a:ext cx="6911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Seulement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 tire </a:t>
            </a:r>
            <a:r>
              <a:rPr lang="en-US" sz="24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une</a:t>
            </a:r>
            <a:r>
              <a:rPr 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bleue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</a:t>
            </a:r>
            <a:r>
              <a:rPr lang="en-US" sz="2400" dirty="0"/>
              <a:t> </a:t>
            </a:r>
            <a:r>
              <a:rPr lang="en-US" sz="2400" dirty="0" err="1"/>
              <a:t>puis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C65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encore </a:t>
            </a:r>
            <a:r>
              <a:rPr lang="en-US" sz="2400" dirty="0" err="1">
                <a:solidFill>
                  <a:srgbClr val="FC65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une</a:t>
            </a:r>
            <a:r>
              <a:rPr lang="en-US" sz="2400" dirty="0">
                <a:solidFill>
                  <a:srgbClr val="FC65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rgbClr val="FC65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bleue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GB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62AE52-770D-4D67-1203-0FFE82C1A1F4}"/>
              </a:ext>
            </a:extLst>
          </p:cNvPr>
          <p:cNvCxnSpPr>
            <a:cxnSpLocks/>
          </p:cNvCxnSpPr>
          <p:nvPr/>
        </p:nvCxnSpPr>
        <p:spPr>
          <a:xfrm flipV="1">
            <a:off x="3891386" y="3316011"/>
            <a:ext cx="660400" cy="784331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A76CD0A-1F6D-C943-537B-16F9793C34CA}"/>
              </a:ext>
            </a:extLst>
          </p:cNvPr>
          <p:cNvCxnSpPr>
            <a:cxnSpLocks/>
          </p:cNvCxnSpPr>
          <p:nvPr/>
        </p:nvCxnSpPr>
        <p:spPr>
          <a:xfrm flipH="1" flipV="1">
            <a:off x="8431636" y="3316011"/>
            <a:ext cx="413914" cy="455889"/>
          </a:xfrm>
          <a:prstGeom prst="straightConnector1">
            <a:avLst/>
          </a:prstGeom>
          <a:ln w="22225">
            <a:solidFill>
              <a:srgbClr val="FC652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B9373749-1BCB-6AC3-786A-1E6445BFA4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50102" y="3729642"/>
                <a:ext cx="4216399" cy="461666"/>
              </a:xfrm>
              <a:prstGeom prst="rect">
                <a:avLst/>
              </a:prstGeom>
            </p:spPr>
            <p:txBody>
              <a:bodyPr vert="horz" lIns="45720" tIns="45720" rIns="4572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517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480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9436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7724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60704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16152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3624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solidFill>
                              <a:srgbClr val="FC6528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FC6528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solidFill>
                                  <a:srgbClr val="FC6528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rgbClr val="FC6528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FC6528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FC6528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FC6528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i="1">
                                <a:solidFill>
                                  <a:srgbClr val="FC6528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𝑏𝑙𝑒𝑢𝑒</m:t>
                            </m:r>
                            <m:r>
                              <a:rPr lang="en-US" sz="2400" b="0" i="1" smtClean="0">
                                <a:solidFill>
                                  <a:srgbClr val="FC6528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| 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FC6528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FC6528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FC6528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FC6528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b="0" i="1" smtClean="0">
                                <a:solidFill>
                                  <a:srgbClr val="FC6528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𝑏𝑙𝑒𝑢𝑒</m:t>
                            </m:r>
                          </m:e>
                        </m:d>
                      </m:e>
                    </m:func>
                  </m:oMath>
                </a14:m>
                <a:endParaRPr lang="en-GB" dirty="0">
                  <a:solidFill>
                    <a:srgbClr val="FC6528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B9373749-1BCB-6AC3-786A-1E6445BFA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0102" y="3729642"/>
                <a:ext cx="4216399" cy="461666"/>
              </a:xfrm>
              <a:prstGeom prst="rect">
                <a:avLst/>
              </a:prstGeom>
              <a:blipFill>
                <a:blip r:embed="rId4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851551-26C4-EAC9-2FDB-B3CC9476CA87}"/>
                  </a:ext>
                </a:extLst>
              </p:cNvPr>
              <p:cNvSpPr txBox="1"/>
              <p:nvPr/>
            </p:nvSpPr>
            <p:spPr>
              <a:xfrm>
                <a:off x="6614416" y="5450397"/>
                <a:ext cx="503148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000" dirty="0"/>
                  <a:t> : Proba occurrence A, </a:t>
                </a:r>
                <a:r>
                  <a:rPr lang="en-GB" sz="2000" dirty="0" err="1"/>
                  <a:t>étant</a:t>
                </a:r>
                <a:r>
                  <a:rPr lang="en-GB" sz="2000" dirty="0"/>
                  <a:t> </a:t>
                </a:r>
                <a:r>
                  <a:rPr lang="en-GB" sz="2000" dirty="0" err="1"/>
                  <a:t>donné</a:t>
                </a:r>
                <a:r>
                  <a:rPr lang="en-GB" sz="2000" dirty="0"/>
                  <a:t> </a:t>
                </a:r>
              </a:p>
              <a:p>
                <a:r>
                  <a:rPr lang="en-GB" sz="2000" dirty="0"/>
                  <a:t>		   </a:t>
                </a:r>
                <a:r>
                  <a:rPr lang="en-US" sz="2000" dirty="0" err="1"/>
                  <a:t>l’occurrence</a:t>
                </a:r>
                <a:r>
                  <a:rPr lang="en-US" sz="2000" dirty="0"/>
                  <a:t> de B</a:t>
                </a:r>
                <a:endParaRPr lang="en-GB" sz="2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851551-26C4-EAC9-2FDB-B3CC9476C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4416" y="5450397"/>
                <a:ext cx="5031484" cy="707886"/>
              </a:xfrm>
              <a:prstGeom prst="rect">
                <a:avLst/>
              </a:prstGeom>
              <a:blipFill>
                <a:blip r:embed="rId5"/>
                <a:stretch>
                  <a:fillRect t="-4310" b="-146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190B8D67-08BB-E1E5-77A6-D33B3E66DD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18300" y="4238525"/>
                <a:ext cx="5270499" cy="864398"/>
              </a:xfrm>
              <a:prstGeom prst="rect">
                <a:avLst/>
              </a:prstGeom>
            </p:spPr>
            <p:txBody>
              <a:bodyPr vert="horz" lIns="45720" tIns="45720" rIns="45720" bIns="45720" rtlCol="0">
                <a:no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517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480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9436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7724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60704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16152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3624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sz="2000" dirty="0">
                    <a:solidFill>
                      <a:srgbClr val="FC6528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 smtClean="0">
                            <a:solidFill>
                              <a:srgbClr val="FC6528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400" i="1">
                                <a:solidFill>
                                  <a:srgbClr val="FC6528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FC6528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FC6528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FC6528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FC6528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C6528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solidFill>
                                      <a:srgbClr val="FC6528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i="1">
                                    <a:solidFill>
                                      <a:srgbClr val="FC6528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𝑏𝑙𝑒𝑢𝑒</m:t>
                                </m:r>
                                <m:r>
                                  <a:rPr lang="en-US" sz="2400" b="0" i="1" smtClean="0">
                                    <a:solidFill>
                                      <a:srgbClr val="FC6528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 ∩</m:t>
                                </m:r>
                                <m:r>
                                  <a:rPr lang="en-US" sz="2400" i="1">
                                    <a:solidFill>
                                      <a:srgbClr val="FC6528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FC6528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FC6528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C6528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solidFill>
                                      <a:srgbClr val="FC6528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i="1">
                                    <a:solidFill>
                                      <a:srgbClr val="FC6528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𝑏𝑙𝑒𝑢𝑒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FC6528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sz="2400" b="0" i="1" smtClean="0">
                            <a:solidFill>
                              <a:srgbClr val="FC6528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⁡[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FC6528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FC6528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C6528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rgbClr val="FC6528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rgbClr val="FC6528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𝑏𝑙𝑒𝑢𝑒</m:t>
                        </m:r>
                        <m:r>
                          <a:rPr lang="en-US" sz="2400" b="0" i="1" smtClean="0">
                            <a:solidFill>
                              <a:srgbClr val="FC6528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a:rPr lang="en-US" sz="2400" b="0" i="1" smtClean="0">
                        <a:solidFill>
                          <a:srgbClr val="FC652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2400" b="0" i="1" smtClean="0">
                            <a:solidFill>
                              <a:srgbClr val="FC6528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400" b="0" i="1" smtClean="0">
                                <a:solidFill>
                                  <a:srgbClr val="FC6528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rgbClr val="FC6528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rgbClr val="FC6528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b="0" i="1" smtClean="0">
                            <a:solidFill>
                              <a:srgbClr val="FC6528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∗</m:t>
                        </m:r>
                        <m:f>
                          <m:fPr>
                            <m:ctrlPr>
                              <a:rPr lang="en-US" sz="2400" b="0" i="1" smtClean="0">
                                <a:solidFill>
                                  <a:srgbClr val="FC6528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rgbClr val="FC6528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rgbClr val="FC6528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sz="2400" b="0" i="1" smtClean="0">
                                <a:solidFill>
                                  <a:srgbClr val="FC6528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rgbClr val="FC6528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rgbClr val="FC6528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a:rPr lang="en-US" sz="2400" b="0" i="1" smtClean="0">
                        <a:solidFill>
                          <a:srgbClr val="FC652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FC6528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FC6528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FC6528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endParaRPr lang="en-GB" sz="2400" dirty="0">
                  <a:solidFill>
                    <a:srgbClr val="FC6528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190B8D67-08BB-E1E5-77A6-D33B3E66D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300" y="4238525"/>
                <a:ext cx="5270499" cy="864398"/>
              </a:xfrm>
              <a:prstGeom prst="rect">
                <a:avLst/>
              </a:prstGeom>
              <a:blipFill>
                <a:blip r:embed="rId6"/>
                <a:stretch>
                  <a:fillRect l="-4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DA3C710-876D-DFAE-1F04-40AA107772ED}"/>
                  </a:ext>
                </a:extLst>
              </p:cNvPr>
              <p:cNvSpPr txBox="1"/>
              <p:nvPr/>
            </p:nvSpPr>
            <p:spPr>
              <a:xfrm>
                <a:off x="6438899" y="6095061"/>
                <a:ext cx="2628899" cy="6701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|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⁡[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⁡[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DA3C710-876D-DFAE-1F04-40AA10777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899" y="6095061"/>
                <a:ext cx="2628899" cy="6701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8D85159-3883-7EBF-7EB1-2AD11780D75C}"/>
              </a:ext>
            </a:extLst>
          </p:cNvPr>
          <p:cNvCxnSpPr>
            <a:cxnSpLocks/>
          </p:cNvCxnSpPr>
          <p:nvPr/>
        </p:nvCxnSpPr>
        <p:spPr>
          <a:xfrm flipV="1">
            <a:off x="5715001" y="3347789"/>
            <a:ext cx="778719" cy="1322935"/>
          </a:xfrm>
          <a:prstGeom prst="straightConnector1">
            <a:avLst/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8EBEF30-97FB-B023-10E0-B4B4A8ADA5BB}"/>
              </a:ext>
            </a:extLst>
          </p:cNvPr>
          <p:cNvSpPr txBox="1"/>
          <p:nvPr/>
        </p:nvSpPr>
        <p:spPr>
          <a:xfrm>
            <a:off x="5473701" y="4612601"/>
            <a:ext cx="402380" cy="369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20462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12" grpId="0"/>
      <p:bldP spid="14" grpId="0"/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2AEF8-1AE1-CA5B-B0EA-EDE1B9344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 </a:t>
            </a:r>
            <a:r>
              <a:rPr lang="en-US" dirty="0" err="1"/>
              <a:t>jette</a:t>
            </a:r>
            <a:r>
              <a:rPr lang="en-US" dirty="0"/>
              <a:t> deux D6. Proba d’un total de 8 ?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F4551E-D89F-20D4-9AE0-CFABACF173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8" y="2286000"/>
                <a:ext cx="6170421" cy="2120900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𝑡𝑜𝑡𝑎𝑙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=8</m:t>
                            </m:r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𝑡𝑜𝑡𝑎𝑙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=8 </m:t>
                            </m:r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=1] ∗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=1]</m:t>
                    </m:r>
                  </m:oMath>
                </a14:m>
                <a:r>
                  <a:rPr lang="en-US" sz="2000" b="0" dirty="0"/>
                  <a:t>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000" b="0" dirty="0"/>
                  <a:t>	         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+ 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|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𝑡𝑜𝑡𝑎𝑙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=8 </m:t>
                            </m:r>
                          </m:e>
                        </m:d>
                      </m:e>
                    </m:func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]∗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b="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sz="2000" dirty="0"/>
                  <a:t>	         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+ 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|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𝑡𝑜𝑡𝑎𝑙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=8 </m:t>
                            </m:r>
                          </m:e>
                        </m:d>
                      </m:e>
                    </m:func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20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sz="2000" dirty="0"/>
                  <a:t>	</a:t>
                </a:r>
                <a:r>
                  <a:rPr lang="en-US" sz="2000" dirty="0"/>
                  <a:t>         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+ 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|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𝑡𝑜𝑡𝑎𝑙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=8 </m:t>
                            </m:r>
                          </m:e>
                        </m:d>
                      </m:e>
                    </m:func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20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sz="2000" dirty="0"/>
                  <a:t>	</a:t>
                </a:r>
                <a:r>
                  <a:rPr lang="en-US" sz="2000" dirty="0"/>
                  <a:t>         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+ 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|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𝑡𝑜𝑡𝑎𝑙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=8 </m:t>
                            </m:r>
                          </m:e>
                        </m:d>
                      </m:e>
                    </m:func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20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sz="2000" dirty="0"/>
                  <a:t>	         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+ 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|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𝑡𝑜𝑡𝑎𝑙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=8 </m:t>
                            </m:r>
                          </m:e>
                        </m:d>
                      </m:e>
                    </m:func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F4551E-D89F-20D4-9AE0-CFABACF173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8" y="2286000"/>
                <a:ext cx="6170421" cy="21209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DD10EE4-DCCF-CE04-0A24-0452406156AB}"/>
                  </a:ext>
                </a:extLst>
              </p:cNvPr>
              <p:cNvSpPr txBox="1"/>
              <p:nvPr/>
            </p:nvSpPr>
            <p:spPr>
              <a:xfrm>
                <a:off x="7008114" y="2663032"/>
                <a:ext cx="5025135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b="0" i="0" dirty="0">
                    <a:latin typeface="Cambria Math" panose="02040503050406030204" pitchFamily="18" charset="0"/>
                  </a:rPr>
                  <a:t> : </a:t>
                </a:r>
                <a:r>
                  <a:rPr lang="en-US" sz="2000" b="0" i="0" dirty="0" err="1">
                    <a:latin typeface="Cambria Math" panose="02040503050406030204" pitchFamily="18" charset="0"/>
                  </a:rPr>
                  <a:t>valeur</a:t>
                </a:r>
                <a:r>
                  <a:rPr lang="en-US" sz="2000" b="0" i="0" dirty="0">
                    <a:latin typeface="Cambria Math" panose="02040503050406030204" pitchFamily="18" charset="0"/>
                  </a:rPr>
                  <a:t> </a:t>
                </a:r>
                <a:r>
                  <a:rPr lang="en-US" sz="2000" b="0" i="0" dirty="0" err="1">
                    <a:latin typeface="Cambria Math" panose="02040503050406030204" pitchFamily="18" charset="0"/>
                  </a:rPr>
                  <a:t>i-ème</a:t>
                </a:r>
                <a:r>
                  <a:rPr lang="en-US" sz="2000" b="0" i="0" dirty="0">
                    <a:latin typeface="Cambria Math" panose="02040503050406030204" pitchFamily="18" charset="0"/>
                  </a:rPr>
                  <a:t> jet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=3]</m:t>
                    </m:r>
                  </m:oMath>
                </a14:m>
                <a:r>
                  <a:rPr lang="en-GB" sz="2000" dirty="0"/>
                  <a:t> : </a:t>
                </a:r>
                <a:r>
                  <a:rPr lang="en-GB" sz="2000" dirty="0" err="1"/>
                  <a:t>proba</a:t>
                </a:r>
                <a:r>
                  <a:rPr lang="en-GB" sz="2000" dirty="0"/>
                  <a:t> </a:t>
                </a:r>
                <a:r>
                  <a:rPr lang="en-GB" sz="2000" dirty="0" err="1"/>
                  <a:t>que</a:t>
                </a:r>
                <a:r>
                  <a:rPr lang="en-GB" sz="2000" dirty="0"/>
                  <a:t> </a:t>
                </a:r>
                <a:r>
                  <a:rPr lang="en-GB" sz="2000" dirty="0" err="1"/>
                  <a:t>j’ai</a:t>
                </a:r>
                <a:r>
                  <a:rPr lang="en-GB" sz="2000" dirty="0"/>
                  <a:t> 3 sur </a:t>
                </a:r>
                <a:r>
                  <a:rPr lang="en-GB" sz="2000" dirty="0" err="1"/>
                  <a:t>mon</a:t>
                </a:r>
                <a:r>
                  <a:rPr lang="en-GB" sz="2000" dirty="0"/>
                  <a:t> </a:t>
                </a:r>
                <a:r>
                  <a:rPr lang="en-GB" sz="2000" dirty="0" err="1"/>
                  <a:t>i-ème</a:t>
                </a:r>
                <a:r>
                  <a:rPr lang="en-GB" sz="2000" dirty="0"/>
                  <a:t> jet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DD10EE4-DCCF-CE04-0A24-045240615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8114" y="2663032"/>
                <a:ext cx="5025135" cy="784830"/>
              </a:xfrm>
              <a:prstGeom prst="rect">
                <a:avLst/>
              </a:prstGeom>
              <a:blipFill>
                <a:blip r:embed="rId3"/>
                <a:stretch>
                  <a:fillRect t="-4651" b="-131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3A5F3F1-3142-CB19-A3FC-DDAF0D7E51E0}"/>
              </a:ext>
            </a:extLst>
          </p:cNvPr>
          <p:cNvSpPr txBox="1"/>
          <p:nvPr/>
        </p:nvSpPr>
        <p:spPr>
          <a:xfrm>
            <a:off x="7749033" y="2193826"/>
            <a:ext cx="3340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cap="small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Terminologie</a:t>
            </a:r>
            <a:r>
              <a:rPr lang="en-US" sz="2400" cap="small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/notation</a:t>
            </a:r>
            <a:endParaRPr lang="en-GB" sz="2400" cap="small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D575C9-4873-0625-C558-57ACDDF13D48}"/>
              </a:ext>
            </a:extLst>
          </p:cNvPr>
          <p:cNvSpPr txBox="1"/>
          <p:nvPr/>
        </p:nvSpPr>
        <p:spPr>
          <a:xfrm>
            <a:off x="711200" y="4468368"/>
            <a:ext cx="11188700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200" dirty="0" err="1"/>
              <a:t>Partitionner</a:t>
            </a:r>
            <a:r>
              <a:rPr lang="en-GB" sz="2200" dirty="0"/>
              <a:t> </a:t>
            </a:r>
            <a:r>
              <a:rPr lang="en-GB" sz="2200" dirty="0" err="1"/>
              <a:t>l’espace</a:t>
            </a:r>
            <a:r>
              <a:rPr lang="en-GB" sz="2200" dirty="0"/>
              <a:t> </a:t>
            </a:r>
            <a:r>
              <a:rPr lang="en-GB" sz="2200" dirty="0" err="1"/>
              <a:t>en</a:t>
            </a:r>
            <a:r>
              <a:rPr lang="en-GB" sz="2200" dirty="0"/>
              <a:t> </a:t>
            </a:r>
            <a:r>
              <a:rPr lang="en-GB" sz="2200" dirty="0" err="1"/>
              <a:t>conditionnant</a:t>
            </a:r>
            <a:r>
              <a:rPr lang="en-GB" sz="2200" dirty="0"/>
              <a:t> sur un </a:t>
            </a:r>
            <a:r>
              <a:rPr lang="en-GB" sz="2200" dirty="0" err="1"/>
              <a:t>évènement</a:t>
            </a:r>
            <a:r>
              <a:rPr lang="en-GB" sz="2200" dirty="0"/>
              <a:t> particulier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GB" sz="2000" dirty="0" err="1"/>
              <a:t>Pr</a:t>
            </a:r>
            <a:r>
              <a:rPr lang="en-GB" sz="2000" dirty="0"/>
              <a:t>[</a:t>
            </a:r>
            <a:r>
              <a:rPr lang="en-GB" sz="2000" dirty="0" err="1"/>
              <a:t>j’arrive</a:t>
            </a:r>
            <a:r>
              <a:rPr lang="en-GB" sz="2000" dirty="0"/>
              <a:t> à </a:t>
            </a:r>
            <a:r>
              <a:rPr lang="en-GB" sz="2000" dirty="0" err="1"/>
              <a:t>l’heure</a:t>
            </a:r>
            <a:r>
              <a:rPr lang="en-GB" sz="2000" dirty="0"/>
              <a:t>] = </a:t>
            </a:r>
            <a:r>
              <a:rPr lang="en-GB" sz="2000" dirty="0" err="1"/>
              <a:t>Pr</a:t>
            </a:r>
            <a:r>
              <a:rPr lang="en-GB" sz="2000" dirty="0"/>
              <a:t>[</a:t>
            </a:r>
            <a:r>
              <a:rPr lang="en-GB" sz="2000" dirty="0" err="1"/>
              <a:t>j’arrive</a:t>
            </a:r>
            <a:r>
              <a:rPr lang="en-GB" sz="2000" dirty="0"/>
              <a:t> à </a:t>
            </a:r>
            <a:r>
              <a:rPr lang="en-GB" sz="2000" dirty="0" err="1"/>
              <a:t>l’heure</a:t>
            </a:r>
            <a:r>
              <a:rPr lang="en-GB" sz="2000" dirty="0"/>
              <a:t> | ma voiture </a:t>
            </a:r>
            <a:r>
              <a:rPr lang="en-GB" sz="2000" dirty="0" err="1"/>
              <a:t>démarre</a:t>
            </a:r>
            <a:r>
              <a:rPr lang="en-GB" sz="2000" dirty="0"/>
              <a:t>] * </a:t>
            </a:r>
            <a:r>
              <a:rPr lang="en-GB" sz="2000" dirty="0" err="1"/>
              <a:t>Pr</a:t>
            </a:r>
            <a:r>
              <a:rPr lang="en-GB" sz="2000" dirty="0"/>
              <a:t>[ma voiture </a:t>
            </a:r>
            <a:r>
              <a:rPr lang="en-GB" sz="2000" dirty="0" err="1"/>
              <a:t>démarre</a:t>
            </a:r>
            <a:r>
              <a:rPr lang="en-GB" sz="2000" dirty="0"/>
              <a:t>] </a:t>
            </a:r>
          </a:p>
          <a:p>
            <a:r>
              <a:rPr lang="en-GB" sz="2000" dirty="0"/>
              <a:t>					 + </a:t>
            </a:r>
            <a:r>
              <a:rPr lang="en-GB" sz="2000" dirty="0" err="1"/>
              <a:t>Pr</a:t>
            </a:r>
            <a:r>
              <a:rPr lang="en-GB" sz="2000" dirty="0"/>
              <a:t>[</a:t>
            </a:r>
            <a:r>
              <a:rPr lang="en-GB" sz="2000" dirty="0" err="1"/>
              <a:t>j’arrive</a:t>
            </a:r>
            <a:r>
              <a:rPr lang="en-GB" sz="2000" dirty="0"/>
              <a:t> à </a:t>
            </a:r>
            <a:r>
              <a:rPr lang="en-GB" sz="2000" dirty="0" err="1"/>
              <a:t>l’heure</a:t>
            </a:r>
            <a:r>
              <a:rPr lang="en-GB" sz="2000" dirty="0"/>
              <a:t> | ma voiture ne </a:t>
            </a:r>
            <a:r>
              <a:rPr lang="en-GB" sz="2000" dirty="0" err="1"/>
              <a:t>démarre</a:t>
            </a:r>
            <a:r>
              <a:rPr lang="en-GB" sz="2000" dirty="0"/>
              <a:t> pas] * </a:t>
            </a:r>
            <a:r>
              <a:rPr lang="en-GB" sz="2000" dirty="0" err="1"/>
              <a:t>Pr</a:t>
            </a:r>
            <a:r>
              <a:rPr lang="en-GB" sz="2000" dirty="0"/>
              <a:t>[ma voiture ne </a:t>
            </a:r>
            <a:r>
              <a:rPr lang="en-GB" sz="2000" dirty="0" err="1"/>
              <a:t>démarre</a:t>
            </a:r>
            <a:r>
              <a:rPr lang="en-GB" sz="2000" dirty="0"/>
              <a:t> pas]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4141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4AF8-76DB-C6CD-EC0E-78307C219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9502B-CFF1-A677-7BE6-DAB7F4AE3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Fin Intermezzo : </a:t>
            </a:r>
            <a:br>
              <a:rPr lang="en-US" dirty="0"/>
            </a:br>
            <a:r>
              <a:rPr lang="en-US" dirty="0" err="1"/>
              <a:t>probabilité</a:t>
            </a:r>
            <a:r>
              <a:rPr lang="en-US" dirty="0"/>
              <a:t> </a:t>
            </a:r>
            <a:r>
              <a:rPr lang="en-US" dirty="0" err="1"/>
              <a:t>conditionnelle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1C07C-581C-6BFC-54B7-33480A0E3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F26F1F4-DEA9-2A4C-68AD-D79108605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988" y="4631402"/>
            <a:ext cx="1547812" cy="1906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0433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2AED23-4EF9-069A-8A58-A93C8F2A9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7B2964-94B1-1DD6-8447-5B9927BCD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3136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5F44C-2E75-0AED-242C-7F96790B3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US" dirty="0" err="1">
                <a:solidFill>
                  <a:srgbClr val="FFFFFF"/>
                </a:solidFill>
              </a:rPr>
              <a:t>Aléatoire</a:t>
            </a:r>
            <a:r>
              <a:rPr lang="en-US" dirty="0">
                <a:solidFill>
                  <a:srgbClr val="FFFFFF"/>
                </a:solidFill>
              </a:rPr>
              <a:t> : </a:t>
            </a:r>
            <a:r>
              <a:rPr lang="en-US" dirty="0" err="1">
                <a:solidFill>
                  <a:srgbClr val="FFFFFF"/>
                </a:solidFill>
              </a:rPr>
              <a:t>propriété</a:t>
            </a:r>
            <a:r>
              <a:rPr lang="en-US" dirty="0">
                <a:solidFill>
                  <a:srgbClr val="FFFFFF"/>
                </a:solidFill>
              </a:rPr>
              <a:t> 1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 err="1">
                <a:solidFill>
                  <a:srgbClr val="FFFFFF"/>
                </a:solidFill>
              </a:rPr>
              <a:t>Equiprobabilité</a:t>
            </a:r>
            <a:r>
              <a:rPr lang="en-US" dirty="0">
                <a:solidFill>
                  <a:srgbClr val="FFFFFF"/>
                </a:solidFill>
              </a:rPr>
              <a:t> (par jet)</a:t>
            </a:r>
            <a:endParaRPr lang="en-GB" dirty="0">
              <a:solidFill>
                <a:srgbClr val="FFFFFF"/>
              </a:solidFill>
            </a:endParaRPr>
          </a:p>
        </p:txBody>
      </p:sp>
      <p:pic>
        <p:nvPicPr>
          <p:cNvPr id="4" name="Picture 2" descr="Discrete Uniform Distribution | CFA Level 1 - AnalystPrep">
            <a:extLst>
              <a:ext uri="{FF2B5EF4-FFF2-40B4-BE49-F238E27FC236}">
                <a16:creationId xmlns:a16="http://schemas.microsoft.com/office/drawing/2014/main" id="{171564ED-3FA2-C778-CD18-AFC0C50FC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26" r="2" b="2"/>
          <a:stretch>
            <a:fillRect/>
          </a:stretch>
        </p:blipFill>
        <p:spPr bwMode="auto">
          <a:xfrm>
            <a:off x="327547" y="321733"/>
            <a:ext cx="7058306" cy="410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B203924-AA0E-34F0-BC5A-B4C59E60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7FF91-3ECA-4C04-D60C-D109E9496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319" y="917725"/>
            <a:ext cx="3572131" cy="4852362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FF"/>
                </a:solidFill>
              </a:rPr>
              <a:t> Valeurs : 1, 2…. 6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Pr</a:t>
            </a:r>
            <a:r>
              <a:rPr lang="en-US" dirty="0">
                <a:solidFill>
                  <a:srgbClr val="FFFFFF"/>
                </a:solidFill>
              </a:rPr>
              <a:t>[X = 1] = </a:t>
            </a:r>
            <a:r>
              <a:rPr lang="en-US" dirty="0" err="1">
                <a:solidFill>
                  <a:srgbClr val="FFFFFF"/>
                </a:solidFill>
              </a:rPr>
              <a:t>Pr</a:t>
            </a:r>
            <a:r>
              <a:rPr lang="en-US" dirty="0">
                <a:solidFill>
                  <a:srgbClr val="FFFFFF"/>
                </a:solidFill>
              </a:rPr>
              <a:t>[X = 2] =…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    = </a:t>
            </a:r>
            <a:r>
              <a:rPr lang="en-US" dirty="0" err="1">
                <a:solidFill>
                  <a:srgbClr val="FFFFFF"/>
                </a:solidFill>
              </a:rPr>
              <a:t>Pr</a:t>
            </a:r>
            <a:r>
              <a:rPr lang="en-US" dirty="0">
                <a:solidFill>
                  <a:srgbClr val="FFFFFF"/>
                </a:solidFill>
              </a:rPr>
              <a:t>[X = 6]  = 1/# </a:t>
            </a:r>
            <a:r>
              <a:rPr lang="en-US" dirty="0" err="1">
                <a:solidFill>
                  <a:srgbClr val="FFFFFF"/>
                </a:solidFill>
              </a:rPr>
              <a:t>valeurs</a:t>
            </a:r>
            <a:endParaRPr lang="en-US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    = 1/6</a:t>
            </a:r>
            <a:endParaRPr lang="en-GB" dirty="0">
              <a:solidFill>
                <a:srgbClr val="FFFFFF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FF"/>
                </a:solidFill>
              </a:rPr>
              <a:t> Distribution </a:t>
            </a:r>
            <a:r>
              <a:rPr lang="en-GB" dirty="0" err="1">
                <a:solidFill>
                  <a:srgbClr val="FFFFFF"/>
                </a:solidFill>
              </a:rPr>
              <a:t>uniforme</a:t>
            </a:r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797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6DADDB-3EA1-7560-5EEB-96E884C49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02DC5C4-AB9A-3853-B8D0-6426B5902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3136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862EA-384D-67DD-473D-3981F2FAF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US" dirty="0" err="1">
                <a:solidFill>
                  <a:srgbClr val="FFFFFF"/>
                </a:solidFill>
              </a:rPr>
              <a:t>Aléatoire</a:t>
            </a:r>
            <a:r>
              <a:rPr lang="en-US" dirty="0">
                <a:solidFill>
                  <a:srgbClr val="FFFFFF"/>
                </a:solidFill>
              </a:rPr>
              <a:t> : </a:t>
            </a:r>
            <a:r>
              <a:rPr lang="en-US" dirty="0" err="1">
                <a:solidFill>
                  <a:srgbClr val="FFFFFF"/>
                </a:solidFill>
              </a:rPr>
              <a:t>propriété</a:t>
            </a:r>
            <a:r>
              <a:rPr lang="en-US" dirty="0">
                <a:solidFill>
                  <a:srgbClr val="FFFFFF"/>
                </a:solidFill>
              </a:rPr>
              <a:t> 2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 err="1">
                <a:solidFill>
                  <a:srgbClr val="FFFFFF"/>
                </a:solidFill>
              </a:rPr>
              <a:t>Indépendence</a:t>
            </a:r>
            <a:r>
              <a:rPr lang="en-US" dirty="0">
                <a:solidFill>
                  <a:srgbClr val="FFFFFF"/>
                </a:solidFill>
              </a:rPr>
              <a:t> (entre les jets)</a:t>
            </a:r>
            <a:endParaRPr lang="en-GB" dirty="0">
              <a:solidFill>
                <a:srgbClr val="FFFFFF"/>
              </a:solidFill>
            </a:endParaRPr>
          </a:p>
        </p:txBody>
      </p:sp>
      <p:pic>
        <p:nvPicPr>
          <p:cNvPr id="4" name="Picture 2" descr="Discrete Uniform Distribution | CFA Level 1 - AnalystPrep">
            <a:extLst>
              <a:ext uri="{FF2B5EF4-FFF2-40B4-BE49-F238E27FC236}">
                <a16:creationId xmlns:a16="http://schemas.microsoft.com/office/drawing/2014/main" id="{B4E28AFF-9CEC-5A28-353B-487516DF5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26" r="2" b="2"/>
          <a:stretch>
            <a:fillRect/>
          </a:stretch>
        </p:blipFill>
        <p:spPr bwMode="auto">
          <a:xfrm>
            <a:off x="327547" y="321733"/>
            <a:ext cx="7058306" cy="410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71011EA-811F-BC87-7679-20F4815DE5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8AB91A-A949-C56C-77D6-9C11796755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29319" y="917725"/>
                <a:ext cx="3572131" cy="4852362"/>
              </a:xfrm>
            </p:spPr>
            <p:txBody>
              <a:bodyPr anchor="ctr"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rgbClr val="FFFFFF"/>
                    </a:solidFill>
                  </a:rPr>
                  <a:t> Valeur d’un jet, </a:t>
                </a:r>
                <a:r>
                  <a:rPr lang="en-US" dirty="0" err="1">
                    <a:solidFill>
                      <a:srgbClr val="FFFFFF"/>
                    </a:solidFill>
                  </a:rPr>
                  <a:t>indépendente</a:t>
                </a:r>
                <a:r>
                  <a:rPr lang="en-US" dirty="0">
                    <a:solidFill>
                      <a:srgbClr val="FFFFFF"/>
                    </a:solidFill>
                  </a:rPr>
                  <a:t> des </a:t>
                </a:r>
                <a:r>
                  <a:rPr lang="en-US" dirty="0" err="1">
                    <a:solidFill>
                      <a:srgbClr val="FFFFFF"/>
                    </a:solidFill>
                  </a:rPr>
                  <a:t>autres</a:t>
                </a:r>
                <a:r>
                  <a:rPr lang="en-US" dirty="0">
                    <a:solidFill>
                      <a:srgbClr val="FFFFFF"/>
                    </a:solidFill>
                  </a:rPr>
                  <a:t> jets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>
                  <a:solidFill>
                    <a:srgbClr val="FFFFFF"/>
                  </a:solidFill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GB" dirty="0">
                    <a:solidFill>
                      <a:srgbClr val="FFFFFF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|"/>
                            <m:ctrlPr>
                              <a:rPr lang="en-US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func>
                    <m:sSub>
                      <m:sSubPr>
                        <m:ctrlPr>
                          <a:rPr lang="en-US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b="0" dirty="0">
                  <a:solidFill>
                    <a:srgbClr val="FFFF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  <m:r>
                            <a:rPr lang="en-US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⁡[</m:t>
                          </m:r>
                          <m:r>
                            <a:rPr lang="en-US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dirty="0">
                  <a:solidFill>
                    <a:srgbClr val="FFFFFF"/>
                  </a:solidFill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GB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8AB91A-A949-C56C-77D6-9C11796755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29319" y="917725"/>
                <a:ext cx="3572131" cy="4852362"/>
              </a:xfrm>
              <a:blipFill>
                <a:blip r:embed="rId3"/>
                <a:stretch>
                  <a:fillRect l="-30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387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07D20A-6F4C-9943-D2C6-1055369F9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F4DE916-B1C8-C2B7-0E1F-37DF8E363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3136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07E62-203D-C04C-B05A-32F4F2CC9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US" dirty="0" err="1">
                <a:solidFill>
                  <a:srgbClr val="FFFFFF"/>
                </a:solidFill>
              </a:rPr>
              <a:t>Aléatoire</a:t>
            </a:r>
            <a:r>
              <a:rPr lang="en-US" dirty="0">
                <a:solidFill>
                  <a:srgbClr val="FFFFFF"/>
                </a:solidFill>
              </a:rPr>
              <a:t> : </a:t>
            </a:r>
            <a:r>
              <a:rPr lang="en-US" dirty="0" err="1">
                <a:solidFill>
                  <a:srgbClr val="FFFFFF"/>
                </a:solidFill>
              </a:rPr>
              <a:t>propriété</a:t>
            </a:r>
            <a:r>
              <a:rPr lang="en-US" dirty="0">
                <a:solidFill>
                  <a:srgbClr val="FFFFFF"/>
                </a:solidFill>
              </a:rPr>
              <a:t> 3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 err="1">
                <a:solidFill>
                  <a:srgbClr val="FFFFFF"/>
                </a:solidFill>
              </a:rPr>
              <a:t>Même</a:t>
            </a:r>
            <a:r>
              <a:rPr lang="en-US" dirty="0">
                <a:solidFill>
                  <a:srgbClr val="FFFFFF"/>
                </a:solidFill>
              </a:rPr>
              <a:t> distribution sur zoom</a:t>
            </a:r>
            <a:endParaRPr lang="en-GB" dirty="0">
              <a:solidFill>
                <a:srgbClr val="FFFFFF"/>
              </a:solidFill>
            </a:endParaRPr>
          </a:p>
        </p:txBody>
      </p:sp>
      <p:pic>
        <p:nvPicPr>
          <p:cNvPr id="4" name="Picture 2" descr="Discrete Uniform Distribution | CFA Level 1 - AnalystPrep">
            <a:extLst>
              <a:ext uri="{FF2B5EF4-FFF2-40B4-BE49-F238E27FC236}">
                <a16:creationId xmlns:a16="http://schemas.microsoft.com/office/drawing/2014/main" id="{AA5A2F02-4485-98E6-49E6-9A06945D0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26" r="2" b="2"/>
          <a:stretch>
            <a:fillRect/>
          </a:stretch>
        </p:blipFill>
        <p:spPr bwMode="auto">
          <a:xfrm>
            <a:off x="327547" y="321733"/>
            <a:ext cx="7058306" cy="410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907F5C9-FD29-9526-2DFB-643A52FB4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59EAB-B5DC-1E23-C35A-E339276FB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319" y="917725"/>
            <a:ext cx="3572131" cy="4852362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FF"/>
                </a:solidFill>
              </a:rPr>
              <a:t> Je </a:t>
            </a:r>
            <a:r>
              <a:rPr lang="en-US" dirty="0" err="1">
                <a:solidFill>
                  <a:srgbClr val="FFFFFF"/>
                </a:solidFill>
              </a:rPr>
              <a:t>jette</a:t>
            </a:r>
            <a:r>
              <a:rPr lang="en-US" dirty="0">
                <a:solidFill>
                  <a:srgbClr val="FFFFFF"/>
                </a:solidFill>
              </a:rPr>
              <a:t> un </a:t>
            </a:r>
            <a:r>
              <a:rPr lang="en-US" dirty="0" err="1">
                <a:solidFill>
                  <a:srgbClr val="FFFFFF"/>
                </a:solidFill>
              </a:rPr>
              <a:t>dès</a:t>
            </a:r>
            <a:r>
              <a:rPr lang="en-US" dirty="0">
                <a:solidFill>
                  <a:srgbClr val="FFFFFF"/>
                </a:solidFill>
              </a:rPr>
              <a:t> 20 </a:t>
            </a:r>
            <a:r>
              <a:rPr lang="en-US" dirty="0" err="1">
                <a:solidFill>
                  <a:srgbClr val="FFFFFF"/>
                </a:solidFill>
              </a:rPr>
              <a:t>fois</a:t>
            </a:r>
            <a:endParaRPr lang="en-US" dirty="0">
              <a:solidFill>
                <a:srgbClr val="FFFFFF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Distrib</a:t>
            </a:r>
            <a:r>
              <a:rPr lang="en-US" dirty="0">
                <a:solidFill>
                  <a:srgbClr val="FFFFFF"/>
                </a:solidFill>
              </a:rPr>
              <a:t>. sur 6 premiers jets, </a:t>
            </a:r>
            <a:r>
              <a:rPr lang="en-US" dirty="0" err="1">
                <a:solidFill>
                  <a:srgbClr val="FFFFFF"/>
                </a:solidFill>
              </a:rPr>
              <a:t>même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que</a:t>
            </a:r>
            <a:r>
              <a:rPr lang="en-US" dirty="0">
                <a:solidFill>
                  <a:srgbClr val="FFFFFF"/>
                </a:solidFill>
              </a:rPr>
              <a:t> sur 6 </a:t>
            </a:r>
            <a:r>
              <a:rPr lang="en-US" dirty="0" err="1">
                <a:solidFill>
                  <a:srgbClr val="FFFFFF"/>
                </a:solidFill>
              </a:rPr>
              <a:t>derniers</a:t>
            </a:r>
            <a:r>
              <a:rPr lang="en-US" dirty="0">
                <a:solidFill>
                  <a:srgbClr val="FFFFFF"/>
                </a:solidFill>
              </a:rPr>
              <a:t> jets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736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7EF3-E5FD-35F4-8736-2B74ABE25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BAD92-83A7-FADC-AD11-21788A5FF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Pséudo-aléatoire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32E77-886C-1592-61D0-28C0B4CFA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378D5D5-75B5-28E9-F6D0-27A8D7EFA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988" y="4631402"/>
            <a:ext cx="1547812" cy="1906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584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36DCB-7319-8C94-803A-8BCD1731F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Générateur</a:t>
            </a:r>
            <a:r>
              <a:rPr lang="en-US" dirty="0"/>
              <a:t> Pseudo-</a:t>
            </a:r>
            <a:r>
              <a:rPr lang="en-US" dirty="0" err="1"/>
              <a:t>Aléatoire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C86AF-00FA-F100-66C5-CC6211092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PRNG(seed)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retourne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une</a:t>
            </a:r>
            <a:r>
              <a:rPr lang="en-US" dirty="0">
                <a:sym typeface="Wingdings" panose="05000000000000000000" pitchFamily="2" charset="2"/>
              </a:rPr>
              <a:t> suite de </a:t>
            </a:r>
            <a:r>
              <a:rPr lang="en-US" dirty="0" err="1">
                <a:sym typeface="Wingdings" panose="05000000000000000000" pitchFamily="2" charset="2"/>
              </a:rPr>
              <a:t>valeurs</a:t>
            </a:r>
            <a:endParaRPr lang="en-US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ym typeface="Wingdings" panose="05000000000000000000" pitchFamily="2" charset="2"/>
              </a:rPr>
              <a:t> Bon PRNG : </a:t>
            </a:r>
            <a:r>
              <a:rPr lang="en-US" dirty="0" err="1">
                <a:sym typeface="Wingdings" panose="05000000000000000000" pitchFamily="2" charset="2"/>
              </a:rPr>
              <a:t>efficace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sécurisé</a:t>
            </a:r>
            <a:endParaRPr lang="en-US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Sécurité</a:t>
            </a:r>
            <a:r>
              <a:rPr lang="en-US" dirty="0">
                <a:sym typeface="Wingdings" panose="05000000000000000000" pitchFamily="2" charset="2"/>
              </a:rPr>
              <a:t> : sans savoir seed, PRNG et </a:t>
            </a:r>
            <a:r>
              <a:rPr lang="en-US" dirty="0" err="1">
                <a:sym typeface="Wingdings" panose="05000000000000000000" pitchFamily="2" charset="2"/>
              </a:rPr>
              <a:t>une</a:t>
            </a:r>
            <a:r>
              <a:rPr lang="en-US" dirty="0">
                <a:sym typeface="Wingdings" panose="05000000000000000000" pitchFamily="2" charset="2"/>
              </a:rPr>
              <a:t> source </a:t>
            </a:r>
            <a:r>
              <a:rPr lang="en-US" dirty="0" err="1">
                <a:sym typeface="Wingdings" panose="05000000000000000000" pitchFamily="2" charset="2"/>
              </a:rPr>
              <a:t>aléatoire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indistinguables</a:t>
            </a:r>
            <a:r>
              <a:rPr lang="en-US" dirty="0">
                <a:sym typeface="Wingdings" panose="05000000000000000000" pitchFamily="2" charset="2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D18FCB-E7E4-8181-9F65-6CE5AB197061}"/>
              </a:ext>
            </a:extLst>
          </p:cNvPr>
          <p:cNvSpPr/>
          <p:nvPr/>
        </p:nvSpPr>
        <p:spPr>
          <a:xfrm>
            <a:off x="3538932" y="4197681"/>
            <a:ext cx="4690463" cy="655387"/>
          </a:xfrm>
          <a:prstGeom prst="round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31000">
                <a:srgbClr val="C00000"/>
              </a:gs>
              <a:gs pos="74000">
                <a:srgbClr val="C00000"/>
              </a:gs>
              <a:gs pos="100000">
                <a:schemeClr val="bg1">
                  <a:lumMod val="50000"/>
                </a:schemeClr>
              </a:gs>
            </a:gsLst>
            <a:lin ang="5400000" scaled="1"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  <a:bevelB prst="convex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Comment tester ?</a:t>
            </a:r>
            <a:endParaRPr lang="en-GB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82774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29DE1-42B8-C585-4E7B-A3E603592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 suite NIST SP 800-22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832CA-BD9A-38BE-31AD-D60E54FD8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Méthodologie</a:t>
            </a:r>
            <a:r>
              <a:rPr lang="en-US" dirty="0"/>
              <a:t> de test sur des </a:t>
            </a:r>
            <a:r>
              <a:rPr lang="en-US" dirty="0" err="1"/>
              <a:t>échantillons</a:t>
            </a:r>
            <a:r>
              <a:rPr lang="en-US" dirty="0"/>
              <a:t> de bits </a:t>
            </a:r>
            <a:r>
              <a:rPr lang="en-US" dirty="0" err="1"/>
              <a:t>sortis</a:t>
            </a:r>
            <a:r>
              <a:rPr lang="en-US" dirty="0"/>
              <a:t> : 0111010111000101…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Suite de tests </a:t>
            </a:r>
            <a:r>
              <a:rPr lang="en-US" dirty="0" err="1"/>
              <a:t>stochastiques</a:t>
            </a:r>
            <a:r>
              <a:rPr lang="en-US" dirty="0"/>
              <a:t> sur des données sorties d’un PRNG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Structure </a:t>
            </a:r>
            <a:r>
              <a:rPr lang="en-US" dirty="0" err="1"/>
              <a:t>similaire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H0 (null-hypothesis) : la suite de </a:t>
            </a:r>
            <a:r>
              <a:rPr lang="en-US" sz="1800" dirty="0" err="1">
                <a:latin typeface="Consolas" panose="020B0609020204030204" pitchFamily="49" charset="0"/>
              </a:rPr>
              <a:t>valeurs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est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aléatoire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Ha (alternative hypothesis) : la suite </a:t>
            </a:r>
            <a:r>
              <a:rPr lang="en-US" sz="1800" dirty="0" err="1">
                <a:latin typeface="Consolas" panose="020B0609020204030204" pitchFamily="49" charset="0"/>
              </a:rPr>
              <a:t>est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biaisée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cap="small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Etape</a:t>
            </a:r>
            <a:r>
              <a:rPr lang="en-US" cap="small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</a:t>
            </a:r>
            <a:r>
              <a:rPr lang="en-US" dirty="0"/>
              <a:t> : </a:t>
            </a:r>
            <a:r>
              <a:rPr lang="en-US" dirty="0" err="1"/>
              <a:t>Calculer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valeur</a:t>
            </a:r>
            <a:r>
              <a:rPr lang="en-US" dirty="0"/>
              <a:t> </a:t>
            </a:r>
            <a:r>
              <a:rPr lang="en-US" dirty="0" err="1"/>
              <a:t>statistique</a:t>
            </a:r>
            <a:r>
              <a:rPr lang="en-US" dirty="0"/>
              <a:t> et un </a:t>
            </a:r>
            <a:r>
              <a:rPr lang="en-US" dirty="0" err="1"/>
              <a:t>seuil</a:t>
            </a:r>
            <a:r>
              <a:rPr lang="en-US" dirty="0"/>
              <a:t> critique (</a:t>
            </a:r>
            <a:r>
              <a:rPr lang="en-US" dirty="0" err="1"/>
              <a:t>ici</a:t>
            </a:r>
            <a:r>
              <a:rPr lang="en-US" dirty="0"/>
              <a:t>, 99%)</a:t>
            </a:r>
          </a:p>
          <a:p>
            <a:pPr marL="0" indent="0">
              <a:buNone/>
            </a:pPr>
            <a:r>
              <a:rPr lang="en-US" cap="small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Etape</a:t>
            </a:r>
            <a:r>
              <a:rPr lang="en-US" cap="small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</a:t>
            </a:r>
            <a:r>
              <a:rPr lang="en-US" dirty="0"/>
              <a:t> : </a:t>
            </a:r>
            <a:r>
              <a:rPr lang="en-US" dirty="0" err="1"/>
              <a:t>Calculer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fonction</a:t>
            </a:r>
            <a:r>
              <a:rPr lang="en-US" dirty="0"/>
              <a:t> de la </a:t>
            </a:r>
            <a:r>
              <a:rPr lang="en-US" dirty="0" err="1"/>
              <a:t>valeur</a:t>
            </a:r>
            <a:r>
              <a:rPr lang="en-US" dirty="0"/>
              <a:t> </a:t>
            </a:r>
            <a:r>
              <a:rPr lang="en-US" dirty="0" err="1"/>
              <a:t>statistique</a:t>
            </a:r>
            <a:r>
              <a:rPr lang="en-US" dirty="0"/>
              <a:t>, la comparer à 0.1% (</a:t>
            </a:r>
            <a:r>
              <a:rPr lang="en-US" dirty="0" err="1"/>
              <a:t>probabilité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la </a:t>
            </a:r>
            <a:r>
              <a:rPr lang="en-US" dirty="0" err="1"/>
              <a:t>valeur</a:t>
            </a:r>
            <a:r>
              <a:rPr lang="en-US" dirty="0"/>
              <a:t> </a:t>
            </a:r>
            <a:r>
              <a:rPr lang="en-US" dirty="0" err="1"/>
              <a:t>indique</a:t>
            </a:r>
            <a:r>
              <a:rPr lang="en-US" dirty="0"/>
              <a:t> un </a:t>
            </a:r>
            <a:r>
              <a:rPr lang="en-US" dirty="0" err="1"/>
              <a:t>vrai</a:t>
            </a:r>
            <a:r>
              <a:rPr lang="en-US" dirty="0"/>
              <a:t> </a:t>
            </a:r>
            <a:r>
              <a:rPr lang="en-US" dirty="0" err="1"/>
              <a:t>biais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cap="small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Etape</a:t>
            </a:r>
            <a:r>
              <a:rPr lang="en-US" cap="small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3</a:t>
            </a:r>
            <a:r>
              <a:rPr lang="en-US" dirty="0"/>
              <a:t> : </a:t>
            </a:r>
            <a:r>
              <a:rPr lang="en-US" dirty="0" err="1"/>
              <a:t>Formuler</a:t>
            </a:r>
            <a:r>
              <a:rPr lang="en-US" dirty="0"/>
              <a:t> un </a:t>
            </a:r>
            <a:r>
              <a:rPr lang="en-US" dirty="0" err="1"/>
              <a:t>jugement</a:t>
            </a:r>
            <a:r>
              <a:rPr lang="en-US" dirty="0"/>
              <a:t> sur quelle </a:t>
            </a:r>
            <a:r>
              <a:rPr lang="en-US" dirty="0" err="1"/>
              <a:t>hypothèse</a:t>
            </a:r>
            <a:r>
              <a:rPr lang="en-US" dirty="0"/>
              <a:t> a plus de </a:t>
            </a:r>
            <a:r>
              <a:rPr lang="en-US" dirty="0" err="1"/>
              <a:t>sens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979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44325-F0D0-1042-B29B-01543E1B2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Faux </a:t>
            </a:r>
            <a:r>
              <a:rPr lang="en-US" dirty="0" err="1"/>
              <a:t>positif</a:t>
            </a:r>
            <a:r>
              <a:rPr lang="en-US" dirty="0"/>
              <a:t>, Faux </a:t>
            </a:r>
            <a:r>
              <a:rPr lang="en-US" dirty="0" err="1"/>
              <a:t>négatif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57403-0050-575D-D967-FACF081DA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3867150"/>
            <a:ext cx="9720073" cy="244221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Erreur</a:t>
            </a:r>
            <a:r>
              <a:rPr lang="en-US" dirty="0"/>
              <a:t> de type I : faux </a:t>
            </a:r>
            <a:r>
              <a:rPr lang="en-US" dirty="0" err="1"/>
              <a:t>négatif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La suite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aléatoire</a:t>
            </a:r>
            <a:r>
              <a:rPr lang="en-US" dirty="0"/>
              <a:t>, </a:t>
            </a:r>
            <a:r>
              <a:rPr lang="en-US" dirty="0" err="1"/>
              <a:t>mais</a:t>
            </a:r>
            <a:r>
              <a:rPr lang="en-US" dirty="0"/>
              <a:t> je </a:t>
            </a:r>
            <a:r>
              <a:rPr lang="en-US" dirty="0" err="1"/>
              <a:t>détecte</a:t>
            </a:r>
            <a:r>
              <a:rPr lang="en-US" dirty="0"/>
              <a:t> un </a:t>
            </a:r>
            <a:r>
              <a:rPr lang="en-US" dirty="0" err="1"/>
              <a:t>biais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=&gt; je </a:t>
            </a:r>
            <a:r>
              <a:rPr lang="en-US" dirty="0" err="1"/>
              <a:t>n’utilise</a:t>
            </a:r>
            <a:r>
              <a:rPr lang="en-US" dirty="0"/>
              <a:t> pas le PRNG </a:t>
            </a:r>
            <a:r>
              <a:rPr lang="en-US" dirty="0" err="1"/>
              <a:t>donné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Erreur</a:t>
            </a:r>
            <a:r>
              <a:rPr lang="en-US" dirty="0"/>
              <a:t> de type II : faux </a:t>
            </a:r>
            <a:r>
              <a:rPr lang="en-US" dirty="0" err="1"/>
              <a:t>positif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La suite </a:t>
            </a:r>
            <a:r>
              <a:rPr lang="en-US" dirty="0" err="1"/>
              <a:t>n’est</a:t>
            </a:r>
            <a:r>
              <a:rPr lang="en-US" dirty="0"/>
              <a:t> pas </a:t>
            </a:r>
            <a:r>
              <a:rPr lang="en-US" dirty="0" err="1"/>
              <a:t>aléatoire</a:t>
            </a:r>
            <a:r>
              <a:rPr lang="en-US" dirty="0"/>
              <a:t>, </a:t>
            </a:r>
            <a:r>
              <a:rPr lang="en-US" dirty="0" err="1"/>
              <a:t>mais</a:t>
            </a:r>
            <a:r>
              <a:rPr lang="en-US" dirty="0"/>
              <a:t> je ne </a:t>
            </a:r>
            <a:r>
              <a:rPr lang="en-US" dirty="0" err="1"/>
              <a:t>détecte</a:t>
            </a:r>
            <a:r>
              <a:rPr lang="en-US" dirty="0"/>
              <a:t> pas un </a:t>
            </a:r>
            <a:r>
              <a:rPr lang="en-US" dirty="0" err="1"/>
              <a:t>biais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=&gt; </a:t>
            </a:r>
            <a:r>
              <a:rPr lang="en-US" dirty="0" err="1"/>
              <a:t>j’utilise</a:t>
            </a:r>
            <a:r>
              <a:rPr lang="en-US" dirty="0"/>
              <a:t> un </a:t>
            </a:r>
            <a:r>
              <a:rPr lang="en-US" dirty="0" err="1"/>
              <a:t>mauvais</a:t>
            </a:r>
            <a:r>
              <a:rPr lang="en-US" dirty="0"/>
              <a:t> PRNG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14335E-99E2-0905-92AB-7E3410C88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600" y="2286000"/>
            <a:ext cx="8121650" cy="130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107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A5E76-DF67-358F-7E39-E024650C7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1 : monobit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A46AE6-8FD7-1559-C2F0-784527070B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8" y="2286000"/>
                <a:ext cx="9720073" cy="4318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Objectif : </a:t>
                </a:r>
                <a:r>
                  <a:rPr lang="en-US" dirty="0" err="1"/>
                  <a:t>est-ce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la proportion de 1s et 0s </a:t>
                </a:r>
                <a:r>
                  <a:rPr lang="en-US" dirty="0" err="1"/>
                  <a:t>est</a:t>
                </a:r>
                <a:r>
                  <a:rPr lang="en-US" dirty="0"/>
                  <a:t> “</a:t>
                </a:r>
                <a:r>
                  <a:rPr lang="en-US" dirty="0" err="1"/>
                  <a:t>correcte</a:t>
                </a:r>
                <a:r>
                  <a:rPr lang="en-US" dirty="0"/>
                  <a:t>”/”acceptable” ?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GB" dirty="0"/>
                  <a:t> </a:t>
                </a:r>
                <a:r>
                  <a:rPr lang="en-GB" cap="small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Entrée</a:t>
                </a:r>
                <a:r>
                  <a:rPr lang="en-GB" dirty="0"/>
                  <a:t> : </a:t>
                </a:r>
                <a:r>
                  <a:rPr lang="en-GB" dirty="0" err="1"/>
                  <a:t>une</a:t>
                </a:r>
                <a:r>
                  <a:rPr lang="en-GB" dirty="0"/>
                  <a:t> suite </a:t>
                </a:r>
                <a:r>
                  <a:rPr lang="en-GB" dirty="0" err="1"/>
                  <a:t>binaire</a:t>
                </a:r>
                <a:r>
                  <a:rPr lang="en-GB" dirty="0"/>
                  <a:t> (&gt;=100 </a:t>
                </a:r>
                <a:r>
                  <a:rPr lang="en-GB" dirty="0" err="1"/>
                  <a:t>mesures</a:t>
                </a:r>
                <a:r>
                  <a:rPr lang="en-GB" dirty="0"/>
                  <a:t>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GB" dirty="0"/>
                  <a:t> </a:t>
                </a:r>
                <a:r>
                  <a:rPr lang="en-GB" cap="small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Valeur </a:t>
                </a:r>
                <a:r>
                  <a:rPr lang="en-GB" cap="small" dirty="0" err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statistique</a:t>
                </a:r>
                <a:r>
                  <a:rPr lang="en-GB" dirty="0"/>
                  <a:t> : </a:t>
                </a:r>
                <a:r>
                  <a:rPr lang="en-GB" dirty="0" err="1"/>
                  <a:t>mesure</a:t>
                </a:r>
                <a:r>
                  <a:rPr lang="en-GB" dirty="0"/>
                  <a:t> de </a:t>
                </a:r>
                <a:r>
                  <a:rPr lang="en-GB" dirty="0" err="1"/>
                  <a:t>fréquence</a:t>
                </a:r>
                <a:r>
                  <a:rPr lang="en-GB" dirty="0"/>
                  <a:t> relative de 1s et 0s : </a:t>
                </a:r>
              </a:p>
              <a:p>
                <a:pPr marL="0" indent="0">
                  <a:buNone/>
                </a:pPr>
                <a:r>
                  <a:rPr lang="en-GB" sz="2000" dirty="0"/>
                  <a:t>	</a:t>
                </a:r>
                <a:r>
                  <a:rPr lang="en-GB" sz="2000" dirty="0" err="1"/>
                  <a:t>Interpréter</a:t>
                </a:r>
                <a:r>
                  <a:rPr lang="en-GB" sz="2000" dirty="0"/>
                  <a:t> la suite </a:t>
                </a:r>
                <a:r>
                  <a:rPr lang="en-GB" sz="2000" dirty="0" err="1"/>
                  <a:t>comme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000" dirty="0"/>
                  <a:t> 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GB" sz="2000" dirty="0"/>
                  <a:t> et n = taille suite</a:t>
                </a:r>
              </a:p>
              <a:p>
                <a:pPr marL="0" indent="0">
                  <a:buNone/>
                </a:pPr>
                <a:r>
                  <a:rPr lang="en-GB" sz="2000" dirty="0"/>
                  <a:t>	</a:t>
                </a:r>
                <a:r>
                  <a:rPr lang="en-GB" sz="2000" dirty="0" err="1"/>
                  <a:t>Définir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2000" dirty="0"/>
                  <a:t> </a:t>
                </a:r>
                <a:r>
                  <a:rPr lang="en-GB" sz="2000" dirty="0" err="1"/>
                  <a:t>si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2000" dirty="0"/>
                  <a:t> 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sz="2000" dirty="0"/>
                  <a:t> </a:t>
                </a:r>
                <a:r>
                  <a:rPr lang="en-GB" sz="2000" dirty="0" err="1"/>
                  <a:t>si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	</a:t>
                </a:r>
                <a:r>
                  <a:rPr lang="en-GB" sz="2000" dirty="0" err="1"/>
                  <a:t>Calculer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fr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	Val. </a:t>
                </a:r>
                <a:r>
                  <a:rPr lang="en-GB" sz="2000" dirty="0" err="1"/>
                  <a:t>Statistique</a:t>
                </a:r>
                <a:r>
                  <a:rPr lang="en-GB" sz="2000" dirty="0"/>
                  <a:t> :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fr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endParaRPr lang="en-GB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GB" dirty="0"/>
                  <a:t> </a:t>
                </a:r>
                <a:r>
                  <a:rPr lang="en-GB" cap="small" dirty="0" err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Fonction</a:t>
                </a:r>
                <a:r>
                  <a:rPr lang="en-GB" dirty="0"/>
                  <a:t> de la </a:t>
                </a:r>
                <a:r>
                  <a:rPr lang="en-GB" dirty="0" err="1"/>
                  <a:t>valeur</a:t>
                </a:r>
                <a:r>
                  <a:rPr lang="en-GB" dirty="0"/>
                  <a:t> </a:t>
                </a:r>
                <a:r>
                  <a:rPr lang="en-GB" dirty="0" err="1"/>
                  <a:t>statistique</a:t>
                </a:r>
                <a:r>
                  <a:rPr lang="en-GB" dirty="0"/>
                  <a:t>, </a:t>
                </a:r>
                <a:r>
                  <a:rPr lang="en-GB" dirty="0" err="1"/>
                  <a:t>ici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erfc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𝑣𝑎𝑙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</m:func>
                  </m:oMath>
                </a14:m>
                <a:r>
                  <a:rPr lang="en-GB" dirty="0"/>
                  <a:t> , comparer à 0.01 (=1%)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GB" dirty="0"/>
                  <a:t> </a:t>
                </a:r>
                <a:r>
                  <a:rPr lang="en-GB" cap="small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Conclusion</a:t>
                </a:r>
                <a:r>
                  <a:rPr lang="en-GB" dirty="0"/>
                  <a:t> : </a:t>
                </a:r>
                <a:r>
                  <a:rPr lang="en-GB" dirty="0" err="1"/>
                  <a:t>si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erfc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𝑣𝑎𝑙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&lt;0.01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alors</a:t>
                </a:r>
                <a:r>
                  <a:rPr lang="en-GB" dirty="0"/>
                  <a:t> </a:t>
                </a:r>
                <a:r>
                  <a:rPr lang="en-GB" dirty="0" err="1"/>
                  <a:t>biaisée</a:t>
                </a:r>
                <a:r>
                  <a:rPr lang="en-GB" dirty="0"/>
                  <a:t> (</a:t>
                </a:r>
                <a:r>
                  <a:rPr lang="en-GB" dirty="0" err="1"/>
                  <a:t>sinon</a:t>
                </a:r>
                <a:r>
                  <a:rPr lang="en-GB" dirty="0"/>
                  <a:t>, non-</a:t>
                </a:r>
                <a:r>
                  <a:rPr lang="en-GB" dirty="0" err="1"/>
                  <a:t>biaisée</a:t>
                </a:r>
                <a:r>
                  <a:rPr lang="en-GB" dirty="0"/>
                  <a:t>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GB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A46AE6-8FD7-1559-C2F0-784527070B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8" y="2286000"/>
                <a:ext cx="9720073" cy="4318000"/>
              </a:xfrm>
              <a:blipFill>
                <a:blip r:embed="rId2"/>
                <a:stretch>
                  <a:fillRect l="-1254" t="-1695" b="-14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FC4A3D8B-011D-38EE-FEBF-8157EC2C6055}"/>
              </a:ext>
            </a:extLst>
          </p:cNvPr>
          <p:cNvSpPr/>
          <p:nvPr/>
        </p:nvSpPr>
        <p:spPr>
          <a:xfrm>
            <a:off x="5137150" y="5489469"/>
            <a:ext cx="2249280" cy="463550"/>
          </a:xfrm>
          <a:prstGeom prst="ellipse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E308085-3DE8-4E34-4A1A-05C1AC6529D2}"/>
              </a:ext>
            </a:extLst>
          </p:cNvPr>
          <p:cNvCxnSpPr>
            <a:cxnSpLocks/>
          </p:cNvCxnSpPr>
          <p:nvPr/>
        </p:nvCxnSpPr>
        <p:spPr>
          <a:xfrm flipH="1">
            <a:off x="5740400" y="4911805"/>
            <a:ext cx="414130" cy="720645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DECDB7C-087E-82C6-EB73-46F03A14406D}"/>
              </a:ext>
            </a:extLst>
          </p:cNvPr>
          <p:cNvSpPr txBox="1"/>
          <p:nvPr/>
        </p:nvSpPr>
        <p:spPr>
          <a:xfrm>
            <a:off x="5567786" y="4519640"/>
            <a:ext cx="5461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Existe</a:t>
            </a: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Python, module math</a:t>
            </a:r>
            <a:endParaRPr lang="en-GB" sz="2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9871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AC18F-464A-CF40-E350-DE55F5988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Exemple</a:t>
            </a:r>
            <a:r>
              <a:rPr lang="en-US" dirty="0"/>
              <a:t> : monobit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8D3FE5-D62C-D77F-D737-5797B7194D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8" y="2908300"/>
                <a:ext cx="9720073" cy="340106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 Dans </a:t>
                </a:r>
                <a:r>
                  <a:rPr lang="en-US" dirty="0" err="1"/>
                  <a:t>cette</a:t>
                </a:r>
                <a:r>
                  <a:rPr lang="en-US" dirty="0"/>
                  <a:t> </a:t>
                </a:r>
                <a:r>
                  <a:rPr lang="en-US" dirty="0" err="1"/>
                  <a:t>séquence</a:t>
                </a:r>
                <a:r>
                  <a:rPr lang="en-US" dirty="0"/>
                  <a:t> :  </a:t>
                </a:r>
              </a:p>
              <a:p>
                <a:pPr marL="0" indent="0">
                  <a:buNone/>
                </a:pPr>
                <a:r>
                  <a:rPr lang="en-US" dirty="0"/>
                  <a:t>	100 chiffres, </a:t>
                </a:r>
                <a:r>
                  <a:rPr lang="en-US" dirty="0" err="1"/>
                  <a:t>dont</a:t>
                </a:r>
                <a:r>
                  <a:rPr lang="en-US" dirty="0"/>
                  <a:t> 42 1s et 58 0s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 </a:t>
                </a:r>
                <a:r>
                  <a:rPr lang="en-US" dirty="0" err="1"/>
                  <a:t>Calculer</a:t>
                </a:r>
                <a:r>
                  <a:rPr lang="en-US" dirty="0"/>
                  <a:t> : 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dirty="0"/>
                  <a:t>	</a:t>
                </a:r>
                <a:r>
                  <a:rPr lang="en-US" dirty="0" err="1"/>
                  <a:t>fr</a:t>
                </a:r>
                <a:r>
                  <a:rPr lang="en-US" dirty="0"/>
                  <a:t> = 42 * 1 + 58 * (-1) = -16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dirty="0"/>
                  <a:t>	</a:t>
                </a:r>
                <a:r>
                  <a:rPr lang="en-US" dirty="0" err="1"/>
                  <a:t>val</a:t>
                </a:r>
                <a:r>
                  <a:rPr lang="en-US" dirty="0"/>
                  <a:t> </a:t>
                </a:r>
                <a:r>
                  <a:rPr lang="en-US" dirty="0" err="1"/>
                  <a:t>statistique</a:t>
                </a:r>
                <a:r>
                  <a:rPr lang="en-US" dirty="0"/>
                  <a:t> : |-16|/100 = 0.16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GB" dirty="0"/>
                  <a:t> Comparer :</a:t>
                </a:r>
              </a:p>
              <a:p>
                <a:pPr marL="0" indent="0">
                  <a:buNone/>
                </a:pPr>
                <a:r>
                  <a:rPr lang="en-GB" dirty="0"/>
                  <a:t>	</a:t>
                </a:r>
                <a:r>
                  <a:rPr lang="en-GB" dirty="0" err="1"/>
                  <a:t>erfc</a:t>
                </a:r>
                <a:r>
                  <a:rPr lang="en-GB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0.16/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GB" dirty="0"/>
                  <a:t>) = 0.1096 &gt;= 0.01 </a:t>
                </a:r>
                <a:r>
                  <a:rPr lang="en-GB" dirty="0">
                    <a:sym typeface="Wingdings" panose="05000000000000000000" pitchFamily="2" charset="2"/>
                  </a:rPr>
                  <a:t> </a:t>
                </a:r>
                <a:r>
                  <a:rPr lang="en-GB" dirty="0"/>
                  <a:t> Accepter H0 : </a:t>
                </a:r>
                <a:r>
                  <a:rPr lang="en-GB" dirty="0" err="1"/>
                  <a:t>c’est</a:t>
                </a:r>
                <a:r>
                  <a:rPr lang="en-GB" dirty="0"/>
                  <a:t> </a:t>
                </a:r>
                <a:r>
                  <a:rPr lang="en-GB" dirty="0" err="1"/>
                  <a:t>aléatoire</a:t>
                </a:r>
                <a:endParaRPr lang="en-GB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8D3FE5-D62C-D77F-D737-5797B7194D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8" y="2908300"/>
                <a:ext cx="9720073" cy="3401060"/>
              </a:xfrm>
              <a:blipFill>
                <a:blip r:embed="rId2"/>
                <a:stretch>
                  <a:fillRect l="-1129" t="-2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CC49357-D581-89ED-3133-FB3BD33A1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241" y="1943039"/>
            <a:ext cx="8002117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469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DA8B4-D349-BB2A-4E4E-C3E0FF88E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D289A-B21D-CBA6-72C3-4366D031F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2 : </a:t>
            </a:r>
            <a:r>
              <a:rPr lang="en-US" dirty="0" err="1"/>
              <a:t>Fréquence</a:t>
            </a:r>
            <a:r>
              <a:rPr lang="en-US" dirty="0"/>
              <a:t> par bloc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DB3BB-9E57-64AA-61DE-C98F526ED4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8" y="2286000"/>
                <a:ext cx="9720073" cy="4318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Objectif : </a:t>
                </a:r>
                <a:r>
                  <a:rPr lang="en-US" dirty="0" err="1"/>
                  <a:t>est-ce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la </a:t>
                </a:r>
                <a:r>
                  <a:rPr lang="en-US" dirty="0" err="1"/>
                  <a:t>fréquence</a:t>
                </a:r>
                <a:r>
                  <a:rPr lang="en-US" dirty="0"/>
                  <a:t> de 1s </a:t>
                </a:r>
                <a:r>
                  <a:rPr lang="en-US" dirty="0" err="1"/>
                  <a:t>est</a:t>
                </a:r>
                <a:r>
                  <a:rPr lang="en-US" dirty="0"/>
                  <a:t> “</a:t>
                </a:r>
                <a:r>
                  <a:rPr lang="en-US" dirty="0" err="1"/>
                  <a:t>correcte</a:t>
                </a:r>
                <a:r>
                  <a:rPr lang="en-US" dirty="0"/>
                  <a:t>”/”acceptable” par bloc ?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GB" dirty="0"/>
                  <a:t> </a:t>
                </a:r>
                <a:r>
                  <a:rPr lang="en-GB" cap="small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Entrée</a:t>
                </a:r>
                <a:r>
                  <a:rPr lang="en-GB" dirty="0"/>
                  <a:t> : </a:t>
                </a:r>
                <a:r>
                  <a:rPr lang="en-GB" dirty="0" err="1"/>
                  <a:t>une</a:t>
                </a:r>
                <a:r>
                  <a:rPr lang="en-GB" dirty="0"/>
                  <a:t> suite </a:t>
                </a:r>
                <a:r>
                  <a:rPr lang="en-GB" dirty="0" err="1"/>
                  <a:t>binaire</a:t>
                </a:r>
                <a:r>
                  <a:rPr lang="en-GB" dirty="0"/>
                  <a:t> (&gt;=100 </a:t>
                </a:r>
                <a:r>
                  <a:rPr lang="en-GB" dirty="0" err="1"/>
                  <a:t>mesures</a:t>
                </a:r>
                <a:r>
                  <a:rPr lang="en-GB" dirty="0"/>
                  <a:t>), taille de bloc M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GB" dirty="0"/>
                  <a:t> </a:t>
                </a:r>
                <a:r>
                  <a:rPr lang="en-GB" cap="small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Valeur </a:t>
                </a:r>
                <a:r>
                  <a:rPr lang="en-GB" cap="small" dirty="0" err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statistique</a:t>
                </a:r>
                <a:r>
                  <a:rPr lang="en-GB" dirty="0"/>
                  <a:t> : </a:t>
                </a:r>
                <a:r>
                  <a:rPr lang="en-GB" dirty="0" err="1"/>
                  <a:t>mesure</a:t>
                </a:r>
                <a:r>
                  <a:rPr lang="en-GB" dirty="0"/>
                  <a:t> de </a:t>
                </a:r>
                <a:r>
                  <a:rPr lang="en-GB" dirty="0" err="1"/>
                  <a:t>fréquence</a:t>
                </a:r>
                <a:r>
                  <a:rPr lang="en-GB" dirty="0"/>
                  <a:t> relative de 1s et 0s dans des blocs : </a:t>
                </a:r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GB" sz="2000" dirty="0"/>
                  <a:t>	</a:t>
                </a:r>
                <a:r>
                  <a:rPr lang="en-GB" sz="2000" dirty="0" err="1"/>
                  <a:t>Interpréter</a:t>
                </a:r>
                <a:r>
                  <a:rPr lang="en-GB" sz="2000" dirty="0"/>
                  <a:t> la suite </a:t>
                </a:r>
                <a:r>
                  <a:rPr lang="en-GB" sz="2000" dirty="0" err="1"/>
                  <a:t>comme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000" dirty="0"/>
                  <a:t> 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GB" sz="2000" dirty="0"/>
                  <a:t> et n = taille suite</a:t>
                </a:r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GB" sz="2000" dirty="0"/>
                  <a:t>	</a:t>
                </a:r>
                <a:r>
                  <a:rPr lang="en-GB" sz="2000" dirty="0" err="1"/>
                  <a:t>Diviser</a:t>
                </a:r>
                <a:r>
                  <a:rPr lang="en-GB" sz="2000" dirty="0"/>
                  <a:t> dans des N sous-blocs disjoints de taille M, </a:t>
                </a:r>
                <a:r>
                  <a:rPr lang="en-GB" sz="2000" dirty="0" err="1"/>
                  <a:t>jeter</a:t>
                </a:r>
                <a:r>
                  <a:rPr lang="en-GB" sz="2000" dirty="0"/>
                  <a:t> le </a:t>
                </a:r>
                <a:r>
                  <a:rPr lang="en-GB" sz="2000" dirty="0" err="1"/>
                  <a:t>reste</a:t>
                </a:r>
                <a:endParaRPr lang="en-GB" sz="2000" dirty="0"/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GB" sz="2000" dirty="0"/>
                  <a:t>	</a:t>
                </a:r>
                <a:r>
                  <a:rPr lang="en-GB" sz="2000" dirty="0" err="1"/>
                  <a:t>Calculer</a:t>
                </a:r>
                <a:r>
                  <a:rPr lang="en-GB" sz="2000" dirty="0"/>
                  <a:t> proportion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type m:val="skw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#1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bloc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en-GB" sz="2000" dirty="0"/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GB" sz="2000" dirty="0"/>
                  <a:t>	Val. </a:t>
                </a:r>
                <a:r>
                  <a:rPr lang="en-GB" sz="2000" dirty="0" err="1"/>
                  <a:t>Statistique</a:t>
                </a:r>
                <a:r>
                  <a:rPr lang="en-GB" sz="2000" dirty="0"/>
                  <a:t> 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4⋅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f>
                                  <m:f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GB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GB" dirty="0"/>
                  <a:t> </a:t>
                </a:r>
                <a:r>
                  <a:rPr lang="en-GB" cap="small" dirty="0" err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Fonction</a:t>
                </a:r>
                <a:r>
                  <a:rPr lang="en-GB" dirty="0"/>
                  <a:t> de la </a:t>
                </a:r>
                <a:r>
                  <a:rPr lang="en-GB" dirty="0" err="1"/>
                  <a:t>valeur</a:t>
                </a:r>
                <a:r>
                  <a:rPr lang="en-GB" dirty="0"/>
                  <a:t> </a:t>
                </a:r>
                <a:r>
                  <a:rPr lang="en-GB" dirty="0" err="1"/>
                  <a:t>statistique</a:t>
                </a:r>
                <a:r>
                  <a:rPr lang="en-GB" dirty="0"/>
                  <a:t>, </a:t>
                </a:r>
                <a:r>
                  <a:rPr lang="en-GB" dirty="0" err="1"/>
                  <a:t>ici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igamc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𝑣𝑎𝑙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GB" dirty="0"/>
                  <a:t> , comparer à 0.01 (=1%)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GB" dirty="0"/>
                  <a:t> </a:t>
                </a:r>
                <a:r>
                  <a:rPr lang="en-GB" cap="small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Conclusion</a:t>
                </a:r>
                <a:r>
                  <a:rPr lang="en-GB" dirty="0"/>
                  <a:t> : </a:t>
                </a:r>
                <a:r>
                  <a:rPr lang="en-GB" dirty="0" err="1"/>
                  <a:t>si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igamc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𝑣𝑎𝑙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&lt;0.01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alors</a:t>
                </a:r>
                <a:r>
                  <a:rPr lang="en-GB" dirty="0"/>
                  <a:t> </a:t>
                </a:r>
                <a:r>
                  <a:rPr lang="en-GB" dirty="0" err="1"/>
                  <a:t>biaisée</a:t>
                </a:r>
                <a:r>
                  <a:rPr lang="en-GB" dirty="0"/>
                  <a:t> (</a:t>
                </a:r>
                <a:r>
                  <a:rPr lang="en-GB" dirty="0" err="1"/>
                  <a:t>sinon</a:t>
                </a:r>
                <a:r>
                  <a:rPr lang="en-GB" dirty="0"/>
                  <a:t>, non-</a:t>
                </a:r>
                <a:r>
                  <a:rPr lang="en-GB" dirty="0" err="1"/>
                  <a:t>biaisée</a:t>
                </a:r>
                <a:r>
                  <a:rPr lang="en-GB" dirty="0"/>
                  <a:t>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GB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DB3BB-9E57-64AA-61DE-C98F526ED4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8" y="2286000"/>
                <a:ext cx="9720073" cy="4318000"/>
              </a:xfrm>
              <a:blipFill>
                <a:blip r:embed="rId2"/>
                <a:stretch>
                  <a:fillRect l="-1254" t="-16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61FBCEE6-8447-C4AC-72D3-9CCE7A23F33C}"/>
              </a:ext>
            </a:extLst>
          </p:cNvPr>
          <p:cNvSpPr/>
          <p:nvPr/>
        </p:nvSpPr>
        <p:spPr>
          <a:xfrm>
            <a:off x="5207000" y="5349769"/>
            <a:ext cx="2249280" cy="463550"/>
          </a:xfrm>
          <a:prstGeom prst="ellipse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85218EE-30EB-9CE3-CD97-8B57C3484D1B}"/>
              </a:ext>
            </a:extLst>
          </p:cNvPr>
          <p:cNvCxnSpPr>
            <a:cxnSpLocks/>
          </p:cNvCxnSpPr>
          <p:nvPr/>
        </p:nvCxnSpPr>
        <p:spPr>
          <a:xfrm flipH="1">
            <a:off x="5810250" y="4772105"/>
            <a:ext cx="414130" cy="720645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243BE4-4578-0398-12D9-FD812B1295BA}"/>
              </a:ext>
            </a:extLst>
          </p:cNvPr>
          <p:cNvSpPr txBox="1"/>
          <p:nvPr/>
        </p:nvSpPr>
        <p:spPr>
          <a:xfrm>
            <a:off x="5637636" y="4379940"/>
            <a:ext cx="5461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Existe</a:t>
            </a: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Python, </a:t>
            </a:r>
            <a:r>
              <a:rPr lang="en-US" sz="2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gammainc</a:t>
            </a: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dans </a:t>
            </a:r>
            <a:r>
              <a:rPr lang="en-US" sz="2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scipy.special</a:t>
            </a:r>
            <a:endParaRPr lang="en-GB" sz="2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53584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07F6-9BC1-83E8-A963-D9C7E2A37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Exemple</a:t>
            </a:r>
            <a:r>
              <a:rPr lang="en-US" dirty="0"/>
              <a:t> : Test 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D821B-FDAB-CB8E-2999-E4D2E18EB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819460"/>
            <a:ext cx="9720073" cy="348989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Dans </a:t>
            </a:r>
            <a:r>
              <a:rPr lang="en-US" dirty="0" err="1"/>
              <a:t>cette</a:t>
            </a:r>
            <a:r>
              <a:rPr lang="en-US" dirty="0"/>
              <a:t> </a:t>
            </a:r>
            <a:r>
              <a:rPr lang="en-US" dirty="0" err="1"/>
              <a:t>séquence</a:t>
            </a:r>
            <a:r>
              <a:rPr lang="en-US" dirty="0"/>
              <a:t> :  </a:t>
            </a:r>
          </a:p>
          <a:p>
            <a:pPr marL="0" indent="0">
              <a:buNone/>
            </a:pPr>
            <a:r>
              <a:rPr lang="en-US" dirty="0"/>
              <a:t>	100 chiffres, divisible dans 10 blocs de 10 </a:t>
            </a:r>
            <a:r>
              <a:rPr lang="en-GB" dirty="0"/>
              <a:t>bits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Calculer</a:t>
            </a:r>
            <a:r>
              <a:rPr lang="en-US" dirty="0"/>
              <a:t> 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pr1 = 4/10, pr2 = 7/10, pr3 = 4/10, pr4 = 3/10, pr5 = 5/10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pr6 = 3/10, pr7 = 4/10, pr8 = 4/10, pr9 = 4/10, pr10 = 4/10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</a:t>
            </a:r>
            <a:r>
              <a:rPr lang="en-US" dirty="0" err="1"/>
              <a:t>val</a:t>
            </a:r>
            <a:r>
              <a:rPr lang="en-US" dirty="0"/>
              <a:t> = 7.2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Comparer 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igamc</a:t>
            </a:r>
            <a:r>
              <a:rPr lang="en-US" dirty="0"/>
              <a:t>(5, 3.6) = 0.706 &gt; 0.01 </a:t>
            </a:r>
            <a:r>
              <a:rPr lang="en-US" dirty="0">
                <a:sym typeface="Wingdings" panose="05000000000000000000" pitchFamily="2" charset="2"/>
              </a:rPr>
              <a:t> ne pas </a:t>
            </a:r>
            <a:r>
              <a:rPr lang="en-US" dirty="0" err="1">
                <a:sym typeface="Wingdings" panose="05000000000000000000" pitchFamily="2" charset="2"/>
              </a:rPr>
              <a:t>rejeter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l’hypothèse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initiale</a:t>
            </a: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B984A6-35E6-3198-91CE-FAC30C0A2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241" y="1943039"/>
            <a:ext cx="8002117" cy="87642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DA0E1B8-F3CF-9583-59C3-4FBE2C34DC1F}"/>
              </a:ext>
            </a:extLst>
          </p:cNvPr>
          <p:cNvCxnSpPr/>
          <p:nvPr/>
        </p:nvCxnSpPr>
        <p:spPr>
          <a:xfrm>
            <a:off x="3435350" y="1943039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C43A25-DE7A-B45F-7791-AB8EE7228C36}"/>
              </a:ext>
            </a:extLst>
          </p:cNvPr>
          <p:cNvCxnSpPr/>
          <p:nvPr/>
        </p:nvCxnSpPr>
        <p:spPr>
          <a:xfrm>
            <a:off x="3435350" y="2368610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C193C70-C68A-8B21-9F2A-27B68EC87D8B}"/>
              </a:ext>
            </a:extLst>
          </p:cNvPr>
          <p:cNvCxnSpPr/>
          <p:nvPr/>
        </p:nvCxnSpPr>
        <p:spPr>
          <a:xfrm>
            <a:off x="5016500" y="1917760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A9811B-8184-D7EA-F1E7-290E2EC8E4F8}"/>
              </a:ext>
            </a:extLst>
          </p:cNvPr>
          <p:cNvCxnSpPr/>
          <p:nvPr/>
        </p:nvCxnSpPr>
        <p:spPr>
          <a:xfrm>
            <a:off x="5016500" y="2343331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C51E27-6405-DF76-6292-9051B07198FF}"/>
              </a:ext>
            </a:extLst>
          </p:cNvPr>
          <p:cNvCxnSpPr/>
          <p:nvPr/>
        </p:nvCxnSpPr>
        <p:spPr>
          <a:xfrm>
            <a:off x="6604000" y="1917760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F8A953-5F23-86CA-8897-38CF4CAB8DAF}"/>
              </a:ext>
            </a:extLst>
          </p:cNvPr>
          <p:cNvCxnSpPr/>
          <p:nvPr/>
        </p:nvCxnSpPr>
        <p:spPr>
          <a:xfrm>
            <a:off x="6604000" y="2343331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0E9EA3-7B8C-E6DD-D4F9-EE760ADF1CBF}"/>
              </a:ext>
            </a:extLst>
          </p:cNvPr>
          <p:cNvCxnSpPr/>
          <p:nvPr/>
        </p:nvCxnSpPr>
        <p:spPr>
          <a:xfrm>
            <a:off x="8147050" y="1917760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A80C39-6089-C99A-5025-7A33E9164332}"/>
              </a:ext>
            </a:extLst>
          </p:cNvPr>
          <p:cNvCxnSpPr/>
          <p:nvPr/>
        </p:nvCxnSpPr>
        <p:spPr>
          <a:xfrm>
            <a:off x="8147050" y="2343331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9487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59C3B-EE2D-1220-470E-EA4AE8242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E2229-AF2E-608C-6640-A7C0D9F15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3 : suites de 0s et 1s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4B0303-F7DF-5F17-B702-A779CAA710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8" y="2286000"/>
                <a:ext cx="9720073" cy="43180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Objectif : </a:t>
                </a:r>
                <a:r>
                  <a:rPr lang="en-US" dirty="0" err="1"/>
                  <a:t>est-ce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le </a:t>
                </a:r>
                <a:r>
                  <a:rPr lang="en-US" dirty="0" err="1"/>
                  <a:t>nombre</a:t>
                </a:r>
                <a:r>
                  <a:rPr lang="en-US" dirty="0"/>
                  <a:t> de suites de 0s/1s </a:t>
                </a:r>
                <a:r>
                  <a:rPr lang="en-US" dirty="0" err="1"/>
                  <a:t>consécutifs</a:t>
                </a:r>
                <a:r>
                  <a:rPr lang="en-US" dirty="0"/>
                  <a:t> </a:t>
                </a:r>
                <a:r>
                  <a:rPr lang="en-US" dirty="0" err="1"/>
                  <a:t>est</a:t>
                </a:r>
                <a:r>
                  <a:rPr lang="en-US" dirty="0"/>
                  <a:t> </a:t>
                </a:r>
                <a:r>
                  <a:rPr lang="en-US" dirty="0" err="1"/>
                  <a:t>conforme</a:t>
                </a:r>
                <a:r>
                  <a:rPr lang="en-US" dirty="0"/>
                  <a:t> ?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GB" dirty="0"/>
                  <a:t> </a:t>
                </a:r>
                <a:r>
                  <a:rPr lang="en-GB" cap="small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Entrée</a:t>
                </a:r>
                <a:r>
                  <a:rPr lang="en-GB" dirty="0"/>
                  <a:t> : </a:t>
                </a:r>
                <a:r>
                  <a:rPr lang="en-GB" dirty="0" err="1"/>
                  <a:t>une</a:t>
                </a:r>
                <a:r>
                  <a:rPr lang="en-GB" dirty="0"/>
                  <a:t> suite </a:t>
                </a:r>
                <a:r>
                  <a:rPr lang="en-GB" dirty="0" err="1"/>
                  <a:t>binaire</a:t>
                </a:r>
                <a:r>
                  <a:rPr lang="en-GB" dirty="0"/>
                  <a:t> (&gt;=100 </a:t>
                </a:r>
                <a:r>
                  <a:rPr lang="en-GB" dirty="0" err="1"/>
                  <a:t>mesures</a:t>
                </a:r>
                <a:r>
                  <a:rPr lang="en-GB" dirty="0"/>
                  <a:t>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GB" dirty="0"/>
                  <a:t> </a:t>
                </a:r>
                <a:r>
                  <a:rPr lang="en-GB" cap="small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Valeur </a:t>
                </a:r>
                <a:r>
                  <a:rPr lang="en-GB" cap="small" dirty="0" err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statistique</a:t>
                </a:r>
                <a:r>
                  <a:rPr lang="en-GB" dirty="0"/>
                  <a:t> : </a:t>
                </a:r>
                <a:r>
                  <a:rPr lang="en-GB" dirty="0" err="1"/>
                  <a:t>nombre</a:t>
                </a:r>
                <a:r>
                  <a:rPr lang="en-GB" dirty="0"/>
                  <a:t> de suites </a:t>
                </a:r>
                <a:r>
                  <a:rPr lang="en-GB" dirty="0" err="1"/>
                  <a:t>consécutives</a:t>
                </a:r>
                <a:r>
                  <a:rPr lang="en-GB" dirty="0"/>
                  <a:t> : </a:t>
                </a:r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GB" sz="2000" dirty="0"/>
                  <a:t>	</a:t>
                </a:r>
                <a:r>
                  <a:rPr lang="en-GB" sz="2000" dirty="0" err="1"/>
                  <a:t>Interpréter</a:t>
                </a:r>
                <a:r>
                  <a:rPr lang="en-GB" sz="2000" dirty="0"/>
                  <a:t> la suite </a:t>
                </a:r>
                <a:r>
                  <a:rPr lang="en-GB" sz="2000" dirty="0" err="1"/>
                  <a:t>comme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000" dirty="0"/>
                  <a:t> 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GB" sz="2000" dirty="0"/>
                  <a:t> et n = taille suite</a:t>
                </a:r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GB" sz="2000" dirty="0"/>
                  <a:t>	</a:t>
                </a:r>
                <a:r>
                  <a:rPr lang="en-GB" sz="2000" dirty="0" err="1"/>
                  <a:t>Calculer</a:t>
                </a:r>
                <a:r>
                  <a:rPr lang="en-GB" sz="2000" dirty="0"/>
                  <a:t> fr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GB" sz="2000" dirty="0"/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GB" sz="2000" dirty="0"/>
                  <a:t>	Utiliser la </a:t>
                </a:r>
                <a:r>
                  <a:rPr lang="en-GB" sz="2000" dirty="0" err="1"/>
                  <a:t>fonction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suite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2000" dirty="0"/>
                  <a:t> </a:t>
                </a:r>
                <a:r>
                  <a:rPr lang="en-GB" sz="2000" dirty="0" err="1"/>
                  <a:t>si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dirty="0"/>
                  <a:t> et 0 </a:t>
                </a:r>
                <a:r>
                  <a:rPr lang="en-GB" sz="2000" dirty="0" err="1"/>
                  <a:t>si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sz="2000" dirty="0"/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GB" sz="2000" dirty="0"/>
                  <a:t>	</a:t>
                </a:r>
                <a:r>
                  <a:rPr lang="en-GB" sz="2000" dirty="0" err="1"/>
                  <a:t>Calculer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𝑠𝑢𝑖𝑡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sz="2000" dirty="0"/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GB" sz="2000" dirty="0"/>
                  <a:t>	</a:t>
                </a:r>
                <a:r>
                  <a:rPr lang="en-GB" sz="2000" dirty="0" err="1"/>
                  <a:t>Calculer</a:t>
                </a:r>
                <a:r>
                  <a:rPr lang="en-GB" sz="2000" dirty="0"/>
                  <a:t> 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𝑠𝑡𝑎𝑡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𝑣𝑎𝑙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−2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𝑓𝑟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(1−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𝑓𝑟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 |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2 </m:t>
                        </m:r>
                        <m:rad>
                          <m:radPr>
                            <m:deg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𝑓𝑟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(1−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𝑓𝑟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GB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GB" dirty="0"/>
                  <a:t> </a:t>
                </a:r>
                <a:r>
                  <a:rPr lang="en-GB" cap="small" dirty="0" err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Fonction</a:t>
                </a:r>
                <a:r>
                  <a:rPr lang="en-GB" dirty="0"/>
                  <a:t> de la </a:t>
                </a:r>
                <a:r>
                  <a:rPr lang="en-GB" dirty="0" err="1"/>
                  <a:t>valeur</a:t>
                </a:r>
                <a:r>
                  <a:rPr lang="en-GB" dirty="0"/>
                  <a:t> </a:t>
                </a:r>
                <a:r>
                  <a:rPr lang="en-GB" dirty="0" err="1"/>
                  <a:t>statistique</a:t>
                </a:r>
                <a:r>
                  <a:rPr lang="en-GB" dirty="0"/>
                  <a:t>, </a:t>
                </a:r>
                <a:r>
                  <a:rPr lang="en-GB" dirty="0" err="1"/>
                  <a:t>ici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erfc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𝑠𝑡𝑎𝑡</m:t>
                            </m:r>
                          </m:e>
                        </m:d>
                      </m:e>
                    </m:func>
                  </m:oMath>
                </a14:m>
                <a:r>
                  <a:rPr lang="en-GB" dirty="0"/>
                  <a:t> , comparer à 0.01 (=1%)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GB" dirty="0"/>
                  <a:t> </a:t>
                </a:r>
                <a:r>
                  <a:rPr lang="en-GB" cap="small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Conclusion</a:t>
                </a:r>
                <a:r>
                  <a:rPr lang="en-GB" dirty="0"/>
                  <a:t> : </a:t>
                </a:r>
                <a:r>
                  <a:rPr lang="en-GB" dirty="0" err="1"/>
                  <a:t>si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erfc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𝑠𝑡𝑎𝑡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&lt;0.01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alors</a:t>
                </a:r>
                <a:r>
                  <a:rPr lang="en-GB" dirty="0"/>
                  <a:t> </a:t>
                </a:r>
                <a:r>
                  <a:rPr lang="en-GB" dirty="0" err="1"/>
                  <a:t>biaisée</a:t>
                </a:r>
                <a:r>
                  <a:rPr lang="en-GB" dirty="0"/>
                  <a:t> (</a:t>
                </a:r>
                <a:r>
                  <a:rPr lang="en-GB" dirty="0" err="1"/>
                  <a:t>sinon</a:t>
                </a:r>
                <a:r>
                  <a:rPr lang="en-GB" dirty="0"/>
                  <a:t>, non-</a:t>
                </a:r>
                <a:r>
                  <a:rPr lang="en-GB" dirty="0" err="1"/>
                  <a:t>biaisée</a:t>
                </a:r>
                <a:r>
                  <a:rPr lang="en-GB" dirty="0"/>
                  <a:t>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GB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4B0303-F7DF-5F17-B702-A779CAA710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8" y="2286000"/>
                <a:ext cx="9720073" cy="4318000"/>
              </a:xfrm>
              <a:blipFill>
                <a:blip r:embed="rId2"/>
                <a:stretch>
                  <a:fillRect l="-1254" t="-24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44431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D4D5C-3410-C24C-D8B1-28A1081B6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E8B9A-AD63-3DD0-0F46-480E4D70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Exemple</a:t>
            </a:r>
            <a:r>
              <a:rPr lang="en-US" dirty="0"/>
              <a:t> : Test 3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A06BC1-4817-FCE2-A9E4-88A5C80AA1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8" y="2819460"/>
                <a:ext cx="9720073" cy="3489899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 Dans </a:t>
                </a:r>
                <a:r>
                  <a:rPr lang="en-US" dirty="0" err="1"/>
                  <a:t>cette</a:t>
                </a:r>
                <a:r>
                  <a:rPr lang="en-US" dirty="0"/>
                  <a:t> </a:t>
                </a:r>
                <a:r>
                  <a:rPr lang="en-US" dirty="0" err="1"/>
                  <a:t>séquence</a:t>
                </a:r>
                <a:r>
                  <a:rPr lang="en-US" dirty="0"/>
                  <a:t> :  </a:t>
                </a:r>
              </a:p>
              <a:p>
                <a:pPr marL="0" indent="0">
                  <a:buNone/>
                </a:pPr>
                <a:r>
                  <a:rPr lang="en-US" dirty="0"/>
                  <a:t>	100 chiffres</a:t>
                </a:r>
              </a:p>
              <a:p>
                <a:pPr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en-US" dirty="0"/>
                  <a:t> </a:t>
                </a:r>
                <a:r>
                  <a:rPr lang="en-US" dirty="0" err="1"/>
                  <a:t>Calculer</a:t>
                </a:r>
                <a:r>
                  <a:rPr lang="en-US" dirty="0"/>
                  <a:t> :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dirty="0"/>
                  <a:t>	</a:t>
                </a:r>
                <a:r>
                  <a:rPr lang="en-US" dirty="0" err="1"/>
                  <a:t>fr</a:t>
                </a:r>
                <a:r>
                  <a:rPr lang="en-US" dirty="0"/>
                  <a:t> = 42/100	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dirty="0"/>
                  <a:t>	</a:t>
                </a:r>
                <a:r>
                  <a:rPr lang="en-US" dirty="0" err="1"/>
                  <a:t>val</a:t>
                </a:r>
                <a:r>
                  <a:rPr lang="en-US" dirty="0"/>
                  <a:t> = 52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dirty="0"/>
                  <a:t>	stat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−2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42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58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|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2 </m:t>
                        </m:r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200</m:t>
                            </m:r>
                          </m:e>
                        </m:ra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42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58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den>
                    </m:f>
                  </m:oMath>
                </a14:m>
                <a:endParaRPr lang="en-US" dirty="0"/>
              </a:p>
              <a:p>
                <a:pPr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en-US" dirty="0"/>
                  <a:t> Comparer :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 err="1"/>
                  <a:t>erfc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52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−2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00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42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58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|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2 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200</m:t>
                            </m:r>
                          </m:e>
                        </m:ra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42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58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dirty="0"/>
                  <a:t>) = 0.500 &gt; 0.01 </a:t>
                </a:r>
                <a:r>
                  <a:rPr lang="en-US" dirty="0">
                    <a:sym typeface="Wingdings" panose="05000000000000000000" pitchFamily="2" charset="2"/>
                  </a:rPr>
                  <a:t> ne pas </a:t>
                </a:r>
                <a:r>
                  <a:rPr lang="en-US" dirty="0" err="1">
                    <a:sym typeface="Wingdings" panose="05000000000000000000" pitchFamily="2" charset="2"/>
                  </a:rPr>
                  <a:t>rejeter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 err="1">
                    <a:sym typeface="Wingdings" panose="05000000000000000000" pitchFamily="2" charset="2"/>
                  </a:rPr>
                  <a:t>l’hypothèse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 err="1">
                    <a:sym typeface="Wingdings" panose="05000000000000000000" pitchFamily="2" charset="2"/>
                  </a:rPr>
                  <a:t>initiale</a:t>
                </a:r>
                <a:r>
                  <a:rPr lang="en-US" dirty="0"/>
                  <a:t>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A06BC1-4817-FCE2-A9E4-88A5C80AA1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8" y="2819460"/>
                <a:ext cx="9720073" cy="3489899"/>
              </a:xfrm>
              <a:blipFill>
                <a:blip r:embed="rId2"/>
                <a:stretch>
                  <a:fillRect l="-1003" t="-26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8377493-FD3C-30E1-BD77-77B2CD13A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241" y="1943039"/>
            <a:ext cx="8002117" cy="876422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C17670-665B-1A6B-4F1C-A2CF0F156D60}"/>
              </a:ext>
            </a:extLst>
          </p:cNvPr>
          <p:cNvSpPr/>
          <p:nvPr/>
        </p:nvSpPr>
        <p:spPr>
          <a:xfrm>
            <a:off x="1828241" y="1993900"/>
            <a:ext cx="337109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9A19E79-B7A3-12E2-7FFE-46ED85AB8129}"/>
              </a:ext>
            </a:extLst>
          </p:cNvPr>
          <p:cNvSpPr/>
          <p:nvPr/>
        </p:nvSpPr>
        <p:spPr>
          <a:xfrm>
            <a:off x="2149195" y="1993900"/>
            <a:ext cx="337109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43E95A4-7E60-38B9-7EE3-6870A6B720A6}"/>
              </a:ext>
            </a:extLst>
          </p:cNvPr>
          <p:cNvSpPr/>
          <p:nvPr/>
        </p:nvSpPr>
        <p:spPr>
          <a:xfrm>
            <a:off x="2638703" y="1993900"/>
            <a:ext cx="337109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F7AAF86-FD03-7770-396B-050410FB50A1}"/>
              </a:ext>
            </a:extLst>
          </p:cNvPr>
          <p:cNvSpPr/>
          <p:nvPr/>
        </p:nvSpPr>
        <p:spPr>
          <a:xfrm>
            <a:off x="3095623" y="1993900"/>
            <a:ext cx="684302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731389D-501B-D827-3CA0-5BFEC08CCC2D}"/>
              </a:ext>
            </a:extLst>
          </p:cNvPr>
          <p:cNvSpPr/>
          <p:nvPr/>
        </p:nvSpPr>
        <p:spPr>
          <a:xfrm>
            <a:off x="3779925" y="1993900"/>
            <a:ext cx="925425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BF3660A-7FAF-AFB5-315B-1E73D02854E0}"/>
              </a:ext>
            </a:extLst>
          </p:cNvPr>
          <p:cNvSpPr/>
          <p:nvPr/>
        </p:nvSpPr>
        <p:spPr>
          <a:xfrm>
            <a:off x="4825161" y="1993900"/>
            <a:ext cx="337109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A104129-88F5-237E-666A-F81C2952B24B}"/>
              </a:ext>
            </a:extLst>
          </p:cNvPr>
          <p:cNvSpPr/>
          <p:nvPr/>
        </p:nvSpPr>
        <p:spPr>
          <a:xfrm>
            <a:off x="6096000" y="1993900"/>
            <a:ext cx="488950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1B914E1-93F2-FB09-9E7D-7233FE74E5FA}"/>
              </a:ext>
            </a:extLst>
          </p:cNvPr>
          <p:cNvSpPr/>
          <p:nvPr/>
        </p:nvSpPr>
        <p:spPr>
          <a:xfrm>
            <a:off x="6724650" y="1993900"/>
            <a:ext cx="488950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7AC2E66-F8C9-4ACB-6956-AC6072F2F1B8}"/>
              </a:ext>
            </a:extLst>
          </p:cNvPr>
          <p:cNvSpPr/>
          <p:nvPr/>
        </p:nvSpPr>
        <p:spPr>
          <a:xfrm>
            <a:off x="7353299" y="1993900"/>
            <a:ext cx="664413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47D4266-7F3F-812F-A98E-B7A346B44804}"/>
              </a:ext>
            </a:extLst>
          </p:cNvPr>
          <p:cNvSpPr/>
          <p:nvPr/>
        </p:nvSpPr>
        <p:spPr>
          <a:xfrm>
            <a:off x="8928100" y="1993900"/>
            <a:ext cx="488950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2C76D61-1B83-A5EF-7578-3C0EC43F4155}"/>
              </a:ext>
            </a:extLst>
          </p:cNvPr>
          <p:cNvSpPr/>
          <p:nvPr/>
        </p:nvSpPr>
        <p:spPr>
          <a:xfrm>
            <a:off x="8323350" y="1993900"/>
            <a:ext cx="319000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EBF7949-4CBB-8F01-C152-3F62AA5711BC}"/>
              </a:ext>
            </a:extLst>
          </p:cNvPr>
          <p:cNvSpPr/>
          <p:nvPr/>
        </p:nvSpPr>
        <p:spPr>
          <a:xfrm>
            <a:off x="9411764" y="1993900"/>
            <a:ext cx="319000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27DDD45-A1D7-66A4-6F2D-05189FD58862}"/>
              </a:ext>
            </a:extLst>
          </p:cNvPr>
          <p:cNvSpPr/>
          <p:nvPr/>
        </p:nvSpPr>
        <p:spPr>
          <a:xfrm>
            <a:off x="1828241" y="2406680"/>
            <a:ext cx="684302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1EA7A08-A6AB-72AC-9F85-FFF7561FCD62}"/>
              </a:ext>
            </a:extLst>
          </p:cNvPr>
          <p:cNvSpPr/>
          <p:nvPr/>
        </p:nvSpPr>
        <p:spPr>
          <a:xfrm>
            <a:off x="2638703" y="2405567"/>
            <a:ext cx="488950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2D6B6C7-E1B6-16AC-C66F-410092FD2BA0}"/>
              </a:ext>
            </a:extLst>
          </p:cNvPr>
          <p:cNvSpPr/>
          <p:nvPr/>
        </p:nvSpPr>
        <p:spPr>
          <a:xfrm>
            <a:off x="4371975" y="2405567"/>
            <a:ext cx="488950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EDA12C1-A37F-5EA6-3FE7-735AC5202389}"/>
              </a:ext>
            </a:extLst>
          </p:cNvPr>
          <p:cNvSpPr/>
          <p:nvPr/>
        </p:nvSpPr>
        <p:spPr>
          <a:xfrm>
            <a:off x="5639689" y="2405567"/>
            <a:ext cx="488950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49E6406-9274-63FE-948A-4F53C838E612}"/>
              </a:ext>
            </a:extLst>
          </p:cNvPr>
          <p:cNvSpPr/>
          <p:nvPr/>
        </p:nvSpPr>
        <p:spPr>
          <a:xfrm>
            <a:off x="9248164" y="2405567"/>
            <a:ext cx="488950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608BF8B-4AFA-7E44-3752-450537630FF5}"/>
              </a:ext>
            </a:extLst>
          </p:cNvPr>
          <p:cNvSpPr/>
          <p:nvPr/>
        </p:nvSpPr>
        <p:spPr>
          <a:xfrm>
            <a:off x="7066607" y="2405567"/>
            <a:ext cx="488950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35B1FB8-E4B2-F46E-BB9A-59C6B93E52FD}"/>
              </a:ext>
            </a:extLst>
          </p:cNvPr>
          <p:cNvSpPr/>
          <p:nvPr/>
        </p:nvSpPr>
        <p:spPr>
          <a:xfrm>
            <a:off x="7980450" y="2405567"/>
            <a:ext cx="488950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2132C88-1439-6319-59AF-8025AFEC4FD8}"/>
              </a:ext>
            </a:extLst>
          </p:cNvPr>
          <p:cNvSpPr/>
          <p:nvPr/>
        </p:nvSpPr>
        <p:spPr>
          <a:xfrm>
            <a:off x="8784563" y="2405567"/>
            <a:ext cx="488950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D22D433-BC3C-CAEA-31E8-745460D469E0}"/>
              </a:ext>
            </a:extLst>
          </p:cNvPr>
          <p:cNvSpPr/>
          <p:nvPr/>
        </p:nvSpPr>
        <p:spPr>
          <a:xfrm>
            <a:off x="6747903" y="2405567"/>
            <a:ext cx="319000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29D1DEB-5E89-D9B8-CC63-B1EC7822949A}"/>
              </a:ext>
            </a:extLst>
          </p:cNvPr>
          <p:cNvSpPr/>
          <p:nvPr/>
        </p:nvSpPr>
        <p:spPr>
          <a:xfrm>
            <a:off x="6432740" y="2405567"/>
            <a:ext cx="319000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4094DDB-251C-4A44-E157-0FCA7B783DF4}"/>
              </a:ext>
            </a:extLst>
          </p:cNvPr>
          <p:cNvSpPr/>
          <p:nvPr/>
        </p:nvSpPr>
        <p:spPr>
          <a:xfrm>
            <a:off x="6124506" y="2413000"/>
            <a:ext cx="319000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AB2FE78-C30D-BFAE-4B1C-E03BD48E7980}"/>
              </a:ext>
            </a:extLst>
          </p:cNvPr>
          <p:cNvSpPr/>
          <p:nvPr/>
        </p:nvSpPr>
        <p:spPr>
          <a:xfrm>
            <a:off x="5336113" y="2405567"/>
            <a:ext cx="319000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ACE25DE-C939-917A-F059-95FBC34409F1}"/>
              </a:ext>
            </a:extLst>
          </p:cNvPr>
          <p:cNvSpPr/>
          <p:nvPr/>
        </p:nvSpPr>
        <p:spPr>
          <a:xfrm>
            <a:off x="4998846" y="2405567"/>
            <a:ext cx="319000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6690D88-7153-E00C-8BE5-9BD33EADCF34}"/>
              </a:ext>
            </a:extLst>
          </p:cNvPr>
          <p:cNvSpPr/>
          <p:nvPr/>
        </p:nvSpPr>
        <p:spPr>
          <a:xfrm>
            <a:off x="4063741" y="2405567"/>
            <a:ext cx="319000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B5B4E3F-5AF3-65F5-734F-F39DB760FCEE}"/>
              </a:ext>
            </a:extLst>
          </p:cNvPr>
          <p:cNvSpPr/>
          <p:nvPr/>
        </p:nvSpPr>
        <p:spPr>
          <a:xfrm>
            <a:off x="3776124" y="2413000"/>
            <a:ext cx="319000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F05AEF9-B629-194E-E241-3691DF112B80}"/>
              </a:ext>
            </a:extLst>
          </p:cNvPr>
          <p:cNvSpPr/>
          <p:nvPr/>
        </p:nvSpPr>
        <p:spPr>
          <a:xfrm>
            <a:off x="3112754" y="2405567"/>
            <a:ext cx="319000" cy="3365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3021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1022D-2CF0-DEEA-672D-23463F38D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47C52-038B-3A27-FFC1-F4F998208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4 : La suite la plus longue par bloc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8AB30B-8998-0483-1818-AEE5EA1B6E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8" y="2286000"/>
                <a:ext cx="9720073" cy="4318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Objectif : </a:t>
                </a:r>
                <a:r>
                  <a:rPr lang="en-US" dirty="0" err="1"/>
                  <a:t>est-ce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la taille/</a:t>
                </a:r>
                <a:r>
                  <a:rPr lang="en-US" dirty="0" err="1"/>
                  <a:t>fréquence</a:t>
                </a:r>
                <a:r>
                  <a:rPr lang="en-US" dirty="0"/>
                  <a:t> de suites de 0s/1s </a:t>
                </a:r>
                <a:r>
                  <a:rPr lang="en-US" dirty="0" err="1"/>
                  <a:t>consécutifs</a:t>
                </a:r>
                <a:r>
                  <a:rPr lang="en-US" dirty="0"/>
                  <a:t> </a:t>
                </a:r>
                <a:r>
                  <a:rPr lang="en-US" dirty="0" err="1"/>
                  <a:t>est</a:t>
                </a:r>
                <a:r>
                  <a:rPr lang="en-US" dirty="0"/>
                  <a:t> </a:t>
                </a:r>
                <a:r>
                  <a:rPr lang="en-US" dirty="0" err="1"/>
                  <a:t>conforme</a:t>
                </a:r>
                <a:r>
                  <a:rPr lang="en-US" dirty="0"/>
                  <a:t> ?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GB" dirty="0"/>
                  <a:t> </a:t>
                </a:r>
                <a:r>
                  <a:rPr lang="en-GB" cap="small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Entrée</a:t>
                </a:r>
                <a:r>
                  <a:rPr lang="en-GB" dirty="0"/>
                  <a:t> : </a:t>
                </a:r>
                <a:r>
                  <a:rPr lang="en-GB" dirty="0" err="1"/>
                  <a:t>une</a:t>
                </a:r>
                <a:r>
                  <a:rPr lang="en-GB" dirty="0"/>
                  <a:t> suite </a:t>
                </a:r>
                <a:r>
                  <a:rPr lang="en-GB" dirty="0" err="1"/>
                  <a:t>binaire</a:t>
                </a:r>
                <a:r>
                  <a:rPr lang="en-GB" dirty="0"/>
                  <a:t> (&gt;=100 </a:t>
                </a:r>
                <a:r>
                  <a:rPr lang="en-GB" dirty="0" err="1"/>
                  <a:t>mesures</a:t>
                </a:r>
                <a:r>
                  <a:rPr lang="en-GB" dirty="0"/>
                  <a:t>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GB" dirty="0"/>
                  <a:t> </a:t>
                </a:r>
                <a:r>
                  <a:rPr lang="en-GB" cap="small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Valeur </a:t>
                </a:r>
                <a:r>
                  <a:rPr lang="en-GB" cap="small" dirty="0" err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statistique</a:t>
                </a:r>
                <a:r>
                  <a:rPr lang="en-GB" dirty="0"/>
                  <a:t> : taille/</a:t>
                </a:r>
                <a:r>
                  <a:rPr lang="en-GB" dirty="0" err="1"/>
                  <a:t>fréquence</a:t>
                </a:r>
                <a:r>
                  <a:rPr lang="en-GB" dirty="0"/>
                  <a:t> de suites les plus longues par bloc : </a:t>
                </a:r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GB" sz="2000" dirty="0"/>
                  <a:t>	</a:t>
                </a:r>
                <a:r>
                  <a:rPr lang="en-GB" sz="2000" dirty="0" err="1"/>
                  <a:t>Interpréter</a:t>
                </a:r>
                <a:r>
                  <a:rPr lang="en-GB" sz="2000" dirty="0"/>
                  <a:t> la suite </a:t>
                </a:r>
                <a:r>
                  <a:rPr lang="en-GB" sz="2000" dirty="0" err="1"/>
                  <a:t>comme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000" dirty="0"/>
                  <a:t> 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GB" sz="2000" dirty="0"/>
                  <a:t> et n = taille suite</a:t>
                </a:r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GB" sz="2000" dirty="0"/>
                  <a:t>	</a:t>
                </a:r>
                <a:r>
                  <a:rPr lang="en-US" sz="2000" dirty="0" err="1"/>
                  <a:t>Diviser</a:t>
                </a:r>
                <a:r>
                  <a:rPr lang="en-US" sz="2000" dirty="0"/>
                  <a:t> dans N blocs de taille M = 8, 128 </a:t>
                </a:r>
                <a:r>
                  <a:rPr lang="en-US" sz="2000" dirty="0" err="1"/>
                  <a:t>ou</a:t>
                </a:r>
                <a:r>
                  <a:rPr lang="en-US" sz="2000" dirty="0"/>
                  <a:t> 10000 bits (</a:t>
                </a:r>
                <a:r>
                  <a:rPr lang="en-US" sz="2000" dirty="0" err="1"/>
                  <a:t>en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fonction</a:t>
                </a:r>
                <a:r>
                  <a:rPr lang="en-US" sz="2000" dirty="0"/>
                  <a:t> de n)</a:t>
                </a:r>
                <a:endParaRPr lang="en-GB" sz="2000" dirty="0"/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GB" sz="2000" dirty="0"/>
                  <a:t>	Par bloc : </a:t>
                </a:r>
                <a:r>
                  <a:rPr lang="en-GB" sz="2000" dirty="0" err="1"/>
                  <a:t>trouver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dirty="0"/>
                  <a:t> : la longueur de la suite </a:t>
                </a:r>
                <a:r>
                  <a:rPr lang="en-GB" sz="2000" dirty="0" err="1"/>
                  <a:t>maximale</a:t>
                </a:r>
                <a:r>
                  <a:rPr lang="en-GB" sz="2000" dirty="0"/>
                  <a:t> de 1s 	</a:t>
                </a:r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GB" sz="2000" dirty="0"/>
                  <a:t>	</a:t>
                </a:r>
                <a:r>
                  <a:rPr lang="en-GB" sz="2000" dirty="0" err="1"/>
                  <a:t>Entabuler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par </a:t>
                </a:r>
                <a:r>
                  <a:rPr lang="en-US" sz="2000" dirty="0" err="1"/>
                  <a:t>catégorie</a:t>
                </a:r>
                <a:r>
                  <a:rPr lang="en-US" sz="2000" dirty="0"/>
                  <a:t> </a:t>
                </a:r>
                <a:endParaRPr lang="en-GB" sz="2000" dirty="0"/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GB" sz="2000" dirty="0"/>
                  <a:t>	</a:t>
                </a:r>
                <a:r>
                  <a:rPr lang="en-GB" sz="2000" dirty="0" err="1"/>
                  <a:t>Calculer</a:t>
                </a:r>
                <a:r>
                  <a:rPr lang="en-GB" sz="2000" dirty="0"/>
                  <a:t> 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𝑠𝑡𝑎𝑡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en-GB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GB" dirty="0"/>
                  <a:t> </a:t>
                </a:r>
                <a:r>
                  <a:rPr lang="en-GB" cap="small" dirty="0" err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Fonction</a:t>
                </a:r>
                <a:r>
                  <a:rPr lang="en-GB" dirty="0"/>
                  <a:t> de la </a:t>
                </a:r>
                <a:r>
                  <a:rPr lang="en-GB" dirty="0" err="1"/>
                  <a:t>valeur</a:t>
                </a:r>
                <a:r>
                  <a:rPr lang="en-GB" dirty="0"/>
                  <a:t> </a:t>
                </a:r>
                <a:r>
                  <a:rPr lang="en-GB" dirty="0" err="1"/>
                  <a:t>statistique</a:t>
                </a:r>
                <a:r>
                  <a:rPr lang="en-GB" dirty="0"/>
                  <a:t>, </a:t>
                </a:r>
                <a:r>
                  <a:rPr lang="en-GB" dirty="0" err="1"/>
                  <a:t>ici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igamc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𝑠𝑡𝑎𝑡</m:t>
                            </m:r>
                          </m:e>
                        </m:d>
                      </m:e>
                    </m:func>
                  </m:oMath>
                </a14:m>
                <a:r>
                  <a:rPr lang="en-GB" dirty="0"/>
                  <a:t> , comparer à 0.01 (=1%)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GB" dirty="0"/>
                  <a:t> </a:t>
                </a:r>
                <a:r>
                  <a:rPr lang="en-GB" cap="small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Conclusion</a:t>
                </a:r>
                <a:r>
                  <a:rPr lang="en-GB" dirty="0"/>
                  <a:t> : </a:t>
                </a:r>
                <a:r>
                  <a:rPr lang="en-GB" dirty="0" err="1"/>
                  <a:t>si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igamc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𝑠𝑡𝑎𝑡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&lt;0.01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alors</a:t>
                </a:r>
                <a:r>
                  <a:rPr lang="en-GB" dirty="0"/>
                  <a:t> </a:t>
                </a:r>
                <a:r>
                  <a:rPr lang="en-GB" dirty="0" err="1"/>
                  <a:t>biaisée</a:t>
                </a:r>
                <a:r>
                  <a:rPr lang="en-GB" dirty="0"/>
                  <a:t> (</a:t>
                </a:r>
                <a:r>
                  <a:rPr lang="en-GB" dirty="0" err="1"/>
                  <a:t>sinon</a:t>
                </a:r>
                <a:r>
                  <a:rPr lang="en-GB" dirty="0"/>
                  <a:t>, non-</a:t>
                </a:r>
                <a:r>
                  <a:rPr lang="en-GB" dirty="0" err="1"/>
                  <a:t>biaisée</a:t>
                </a:r>
                <a:r>
                  <a:rPr lang="en-GB" dirty="0"/>
                  <a:t>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GB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8AB30B-8998-0483-1818-AEE5EA1B6E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8" y="2286000"/>
                <a:ext cx="9720073" cy="4318000"/>
              </a:xfrm>
              <a:blipFill>
                <a:blip r:embed="rId2"/>
                <a:stretch>
                  <a:fillRect l="-1254" t="-1695" b="-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53D71BD-56F2-9F69-1E30-EA694DD7B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619" y="3429000"/>
            <a:ext cx="4675809" cy="21703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189565-28F2-D5DD-417D-4C4C8C7CE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572" y="1876216"/>
            <a:ext cx="4411238" cy="248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11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B0B84-78D7-580E-BD02-5F9893A11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88190-2884-6585-6CE4-4C6A2648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Exemple</a:t>
            </a:r>
            <a:r>
              <a:rPr lang="en-US" dirty="0"/>
              <a:t> : Test 4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5F6253-E07C-643F-DC1F-C908FFBFAE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8" y="3305142"/>
                <a:ext cx="9720073" cy="3489899"/>
              </a:xfrm>
            </p:spPr>
            <p:txBody>
              <a:bodyPr>
                <a:normAutofit lnSpcReduction="10000"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 Dans </a:t>
                </a:r>
                <a:r>
                  <a:rPr lang="en-US" dirty="0" err="1"/>
                  <a:t>cette</a:t>
                </a:r>
                <a:r>
                  <a:rPr lang="en-US" dirty="0"/>
                  <a:t> </a:t>
                </a:r>
                <a:r>
                  <a:rPr lang="en-US" dirty="0" err="1"/>
                  <a:t>séquence</a:t>
                </a:r>
                <a:r>
                  <a:rPr lang="en-US" dirty="0"/>
                  <a:t> :  </a:t>
                </a:r>
              </a:p>
              <a:p>
                <a:pPr marL="0" indent="0">
                  <a:buNone/>
                </a:pPr>
                <a:r>
                  <a:rPr lang="en-US" dirty="0"/>
                  <a:t>	128 chiffres, blocs de 8</a:t>
                </a:r>
              </a:p>
              <a:p>
                <a:pPr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en-US" dirty="0"/>
                  <a:t> </a:t>
                </a:r>
                <a:r>
                  <a:rPr lang="en-US" dirty="0" err="1"/>
                  <a:t>Calculer</a:t>
                </a:r>
                <a:r>
                  <a:rPr lang="en-US" dirty="0"/>
                  <a:t> :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=3,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=2,</m:t>
                    </m:r>
                  </m:oMath>
                </a14:m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dirty="0"/>
                  <a:t>	stat = 4.882</a:t>
                </a:r>
              </a:p>
              <a:p>
                <a:pPr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en-US" dirty="0"/>
                  <a:t> Comparer :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 err="1"/>
                  <a:t>igamc</a:t>
                </a:r>
                <a:r>
                  <a:rPr lang="en-US" dirty="0"/>
                  <a:t>(4.882) = 0.181 &gt; 0.01 </a:t>
                </a:r>
                <a:r>
                  <a:rPr lang="en-US" dirty="0">
                    <a:sym typeface="Wingdings" panose="05000000000000000000" pitchFamily="2" charset="2"/>
                  </a:rPr>
                  <a:t> ne pas </a:t>
                </a:r>
                <a:r>
                  <a:rPr lang="en-US" dirty="0" err="1">
                    <a:sym typeface="Wingdings" panose="05000000000000000000" pitchFamily="2" charset="2"/>
                  </a:rPr>
                  <a:t>rejeter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 err="1">
                    <a:sym typeface="Wingdings" panose="05000000000000000000" pitchFamily="2" charset="2"/>
                  </a:rPr>
                  <a:t>l’hypothèse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 err="1">
                    <a:sym typeface="Wingdings" panose="05000000000000000000" pitchFamily="2" charset="2"/>
                  </a:rPr>
                  <a:t>initiale</a:t>
                </a:r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5F6253-E07C-643F-DC1F-C908FFBFAE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8" y="3305142"/>
                <a:ext cx="9720073" cy="3489899"/>
              </a:xfrm>
              <a:blipFill>
                <a:blip r:embed="rId2"/>
                <a:stretch>
                  <a:fillRect l="-1129" t="-2967" b="-29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5C3BBB7-250E-463D-37B6-0426596C7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057" y="1805526"/>
            <a:ext cx="8337786" cy="12932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5B515E-7F44-5C5A-700A-5098460EB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0302" y="3354126"/>
            <a:ext cx="3940247" cy="222284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3BEC5CC-932D-EAF2-C03E-82B13CF21709}"/>
              </a:ext>
            </a:extLst>
          </p:cNvPr>
          <p:cNvCxnSpPr/>
          <p:nvPr/>
        </p:nvCxnSpPr>
        <p:spPr>
          <a:xfrm>
            <a:off x="3437164" y="1883899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AF6B8A-47DC-5BA2-7A5A-EDE4E6A263AE}"/>
              </a:ext>
            </a:extLst>
          </p:cNvPr>
          <p:cNvCxnSpPr/>
          <p:nvPr/>
        </p:nvCxnSpPr>
        <p:spPr>
          <a:xfrm>
            <a:off x="9909629" y="1897505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0A90C2-2CB2-5427-DFD7-775C7E7B7E27}"/>
              </a:ext>
            </a:extLst>
          </p:cNvPr>
          <p:cNvCxnSpPr/>
          <p:nvPr/>
        </p:nvCxnSpPr>
        <p:spPr>
          <a:xfrm>
            <a:off x="4708071" y="1897505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0615B6-4D27-25DB-19C2-490C91A9DCB0}"/>
              </a:ext>
            </a:extLst>
          </p:cNvPr>
          <p:cNvCxnSpPr/>
          <p:nvPr/>
        </p:nvCxnSpPr>
        <p:spPr>
          <a:xfrm>
            <a:off x="6006191" y="1873011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B82036-78F7-BE22-1CD0-26AEDB301E7C}"/>
              </a:ext>
            </a:extLst>
          </p:cNvPr>
          <p:cNvCxnSpPr/>
          <p:nvPr/>
        </p:nvCxnSpPr>
        <p:spPr>
          <a:xfrm>
            <a:off x="7320643" y="1889342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5E9EC43-0088-38C4-DF9B-BAD1DE965550}"/>
              </a:ext>
            </a:extLst>
          </p:cNvPr>
          <p:cNvCxnSpPr/>
          <p:nvPr/>
        </p:nvCxnSpPr>
        <p:spPr>
          <a:xfrm>
            <a:off x="8586109" y="1881176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E5BCC08-D00B-26DF-99AB-F0F31B3A1B64}"/>
              </a:ext>
            </a:extLst>
          </p:cNvPr>
          <p:cNvCxnSpPr/>
          <p:nvPr/>
        </p:nvCxnSpPr>
        <p:spPr>
          <a:xfrm>
            <a:off x="3165020" y="2307533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9D1260C-B514-A012-7B4E-E33E0CDE490E}"/>
              </a:ext>
            </a:extLst>
          </p:cNvPr>
          <p:cNvCxnSpPr/>
          <p:nvPr/>
        </p:nvCxnSpPr>
        <p:spPr>
          <a:xfrm>
            <a:off x="4468584" y="2315699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CFFEA27-C673-6BD0-2DC6-A4FF5F2591A9}"/>
              </a:ext>
            </a:extLst>
          </p:cNvPr>
          <p:cNvCxnSpPr/>
          <p:nvPr/>
        </p:nvCxnSpPr>
        <p:spPr>
          <a:xfrm>
            <a:off x="5780313" y="2323861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6D7359C-C1DF-0CF3-395C-20C2C7B09E31}"/>
              </a:ext>
            </a:extLst>
          </p:cNvPr>
          <p:cNvCxnSpPr/>
          <p:nvPr/>
        </p:nvCxnSpPr>
        <p:spPr>
          <a:xfrm>
            <a:off x="7078434" y="2323861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341BA86-FB2B-8B07-94DF-4489F4D6813E}"/>
              </a:ext>
            </a:extLst>
          </p:cNvPr>
          <p:cNvCxnSpPr/>
          <p:nvPr/>
        </p:nvCxnSpPr>
        <p:spPr>
          <a:xfrm>
            <a:off x="8373834" y="2340192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2731420-D641-0857-8961-71EF3BD61607}"/>
              </a:ext>
            </a:extLst>
          </p:cNvPr>
          <p:cNvCxnSpPr/>
          <p:nvPr/>
        </p:nvCxnSpPr>
        <p:spPr>
          <a:xfrm>
            <a:off x="9671956" y="2315699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88FFEF0-ED32-9DB6-96D5-09EEE646BEE6}"/>
              </a:ext>
            </a:extLst>
          </p:cNvPr>
          <p:cNvCxnSpPr/>
          <p:nvPr/>
        </p:nvCxnSpPr>
        <p:spPr>
          <a:xfrm>
            <a:off x="2862942" y="2672408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3BC2667-24EE-2B62-B6DD-480FFD0E95A5}"/>
              </a:ext>
            </a:extLst>
          </p:cNvPr>
          <p:cNvCxnSpPr/>
          <p:nvPr/>
        </p:nvCxnSpPr>
        <p:spPr>
          <a:xfrm>
            <a:off x="4166506" y="2688736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9C6398B-007A-8A04-F9E2-18AB9BE9A0AF}"/>
              </a:ext>
            </a:extLst>
          </p:cNvPr>
          <p:cNvCxnSpPr/>
          <p:nvPr/>
        </p:nvCxnSpPr>
        <p:spPr>
          <a:xfrm>
            <a:off x="5464628" y="2688736"/>
            <a:ext cx="0" cy="4508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4801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A85F7B3-F4E6-4FBF-B74E-43CAB468F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7FA734-E4EC-4EF8-AEFA-2D435EE96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4809406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kern="1200" cap="all" spc="200" baseline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Autres</a:t>
            </a:r>
            <a:r>
              <a:rPr lang="en-US" sz="37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 tests</a:t>
            </a:r>
            <a:br>
              <a:rPr lang="en-US" sz="37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</a:br>
            <a:br>
              <a:rPr lang="en-US" sz="37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</a:br>
            <a:endParaRPr lang="en-US" sz="3700" kern="1200" cap="all" spc="200" baseline="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03670-9B24-47AB-9DDA-25298731F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806" y="3849539"/>
            <a:ext cx="4819340" cy="23674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2400" spc="200" dirty="0"/>
              <a:t>https://nvlpubs.nist.gov/nistpubs/Legacy/SP/nistspecialpublication800-22r1a.pdf</a:t>
            </a:r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3741D5B-1709-4CDB-963A-CC3C74941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475488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>
            <a:extLst>
              <a:ext uri="{FF2B5EF4-FFF2-40B4-BE49-F238E27FC236}">
                <a16:creationId xmlns:a16="http://schemas.microsoft.com/office/drawing/2014/main" id="{10F3BCC9-E14B-4B0D-9751-B5D010F93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58306" y="640080"/>
            <a:ext cx="4528259" cy="557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42918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21360</TotalTime>
  <Words>2099</Words>
  <Application>Microsoft Office PowerPoint</Application>
  <PresentationFormat>Widescreen</PresentationFormat>
  <Paragraphs>262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 CHRISTY</vt:lpstr>
      <vt:lpstr>Arial</vt:lpstr>
      <vt:lpstr>Cambria Math</vt:lpstr>
      <vt:lpstr>Consolas</vt:lpstr>
      <vt:lpstr>Tw Cen MT</vt:lpstr>
      <vt:lpstr>Tw Cen MT Condensed</vt:lpstr>
      <vt:lpstr>Wingdings</vt:lpstr>
      <vt:lpstr>Wingdings 3</vt:lpstr>
      <vt:lpstr>Integral</vt:lpstr>
      <vt:lpstr>Les générateurs pseudo-aléatoires et leurs biais</vt:lpstr>
      <vt:lpstr>L’authentification  défi-réponse</vt:lpstr>
      <vt:lpstr>Résistance aux réjeux</vt:lpstr>
      <vt:lpstr>L’authentification symétrique</vt:lpstr>
      <vt:lpstr>HMAC : imprévisible, mais déterministe</vt:lpstr>
      <vt:lpstr>Le défi : aléatoire</vt:lpstr>
      <vt:lpstr>Aléatoire ?</vt:lpstr>
      <vt:lpstr>Aléatoire</vt:lpstr>
      <vt:lpstr>Équitabilité</vt:lpstr>
      <vt:lpstr>Distribution uniforme</vt:lpstr>
      <vt:lpstr>Intermezzo :  probabilité conditionnelle</vt:lpstr>
      <vt:lpstr>Conditions ?</vt:lpstr>
      <vt:lpstr>Probabilité conditionnelle</vt:lpstr>
      <vt:lpstr>Probabilité conditionnelle</vt:lpstr>
      <vt:lpstr>Je jette deux D6. Proba d’un total de 8 ?</vt:lpstr>
      <vt:lpstr>Fin Intermezzo :  probabilité conditionnelle</vt:lpstr>
      <vt:lpstr>Aléatoire : propriété 1 Equiprobabilité (par jet)</vt:lpstr>
      <vt:lpstr>Aléatoire : propriété 2 Indépendence (entre les jets)</vt:lpstr>
      <vt:lpstr>Aléatoire : propriété 3 Même distribution sur zoom</vt:lpstr>
      <vt:lpstr>Pséudo-aléatoire</vt:lpstr>
      <vt:lpstr>Générateur Pseudo-Aléatoire</vt:lpstr>
      <vt:lpstr>La suite NIST SP 800-22</vt:lpstr>
      <vt:lpstr>Faux positif, Faux négatif</vt:lpstr>
      <vt:lpstr>Test 1 : monobit</vt:lpstr>
      <vt:lpstr>Exemple : monobit</vt:lpstr>
      <vt:lpstr>Test 2 : Fréquence par bloc</vt:lpstr>
      <vt:lpstr>Exemple : Test 2</vt:lpstr>
      <vt:lpstr>Test 3 : suites de 0s et 1s</vt:lpstr>
      <vt:lpstr>Exemple : Test 3</vt:lpstr>
      <vt:lpstr>Test 4 : La suite la plus longue par bloc</vt:lpstr>
      <vt:lpstr>Exemple : Test 4</vt:lpstr>
      <vt:lpstr>Autres tests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fonctions de hachage</dc:title>
  <dc:creator>Cristina Onete</dc:creator>
  <cp:lastModifiedBy>Cristina Onete</cp:lastModifiedBy>
  <cp:revision>886</cp:revision>
  <dcterms:created xsi:type="dcterms:W3CDTF">2021-11-11T14:57:19Z</dcterms:created>
  <dcterms:modified xsi:type="dcterms:W3CDTF">2025-10-11T23:56:26Z</dcterms:modified>
</cp:coreProperties>
</file>